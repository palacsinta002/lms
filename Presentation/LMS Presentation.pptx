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89" r:id="rId2"/>
  </p:sldMasterIdLst>
  <p:sldIdLst>
    <p:sldId id="256" r:id="rId3"/>
    <p:sldId id="258" r:id="rId4"/>
    <p:sldId id="277" r:id="rId5"/>
    <p:sldId id="276" r:id="rId6"/>
    <p:sldId id="269" r:id="rId7"/>
    <p:sldId id="275" r:id="rId8"/>
    <p:sldId id="281" r:id="rId9"/>
    <p:sldId id="284" r:id="rId10"/>
    <p:sldId id="282" r:id="rId11"/>
    <p:sldId id="283" r:id="rId12"/>
    <p:sldId id="287" r:id="rId13"/>
    <p:sldId id="286" r:id="rId14"/>
    <p:sldId id="297" r:id="rId15"/>
    <p:sldId id="301" r:id="rId16"/>
    <p:sldId id="305" r:id="rId17"/>
    <p:sldId id="303" r:id="rId18"/>
    <p:sldId id="304" r:id="rId19"/>
    <p:sldId id="306" r:id="rId20"/>
    <p:sldId id="307" r:id="rId21"/>
    <p:sldId id="308" r:id="rId22"/>
    <p:sldId id="309" r:id="rId23"/>
    <p:sldId id="310" r:id="rId24"/>
    <p:sldId id="295" r:id="rId25"/>
    <p:sldId id="300" r:id="rId26"/>
    <p:sldId id="290" r:id="rId27"/>
    <p:sldId id="289" r:id="rId28"/>
    <p:sldId id="291" r:id="rId29"/>
    <p:sldId id="298" r:id="rId30"/>
    <p:sldId id="293" r:id="rId31"/>
    <p:sldId id="294" r:id="rId32"/>
    <p:sldId id="266" r:id="rId33"/>
    <p:sldId id="299" r:id="rId34"/>
    <p:sldId id="267" r:id="rId35"/>
    <p:sldId id="262" r:id="rId36"/>
    <p:sldId id="264" r:id="rId37"/>
    <p:sldId id="265" r:id="rId38"/>
    <p:sldId id="288" r:id="rId39"/>
    <p:sldId id="257" r:id="rId40"/>
    <p:sldId id="270" r:id="rId41"/>
    <p:sldId id="272" r:id="rId4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5" d="100"/>
          <a:sy n="135" d="100"/>
        </p:scale>
        <p:origin x="20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299867" y="1922317"/>
            <a:ext cx="9110800" cy="255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6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299867" y="4533184"/>
            <a:ext cx="6028000" cy="54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7878843" y="713332"/>
            <a:ext cx="4634557" cy="7493784"/>
            <a:chOff x="5909132" y="534999"/>
            <a:chExt cx="3475918" cy="5620338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5909132" y="3487469"/>
              <a:ext cx="2773543" cy="2667868"/>
              <a:chOff x="5909132" y="3487469"/>
              <a:chExt cx="2773543" cy="2667868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7774900" y="3487469"/>
                <a:ext cx="907775" cy="90778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3">
                <a:alphaModFix amt="32000"/>
              </a:blip>
              <a:stretch>
                <a:fillRect/>
              </a:stretch>
            </p:blipFill>
            <p:spPr>
              <a:xfrm>
                <a:off x="5909132" y="3955138"/>
                <a:ext cx="2200136" cy="22002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pic>
          <p:nvPicPr>
            <p:cNvPr id="16" name="Google Shape;16;p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767874" y="534999"/>
              <a:ext cx="2617176" cy="129263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" name="Google Shape;17;p2"/>
          <p:cNvGrpSpPr/>
          <p:nvPr/>
        </p:nvGrpSpPr>
        <p:grpSpPr>
          <a:xfrm>
            <a:off x="607068" y="724398"/>
            <a:ext cx="10334849" cy="5788228"/>
            <a:chOff x="455300" y="543298"/>
            <a:chExt cx="7751137" cy="4341171"/>
          </a:xfrm>
        </p:grpSpPr>
        <p:pic>
          <p:nvPicPr>
            <p:cNvPr id="18" name="Google Shape;18;p2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55300" y="543298"/>
              <a:ext cx="519600" cy="5195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027437" y="3703430"/>
              <a:ext cx="1179000" cy="118104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4008093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990867" y="3173100"/>
            <a:ext cx="4044800" cy="13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1537667" y="3173100"/>
            <a:ext cx="1453200" cy="135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667" b="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grpSp>
        <p:nvGrpSpPr>
          <p:cNvPr id="24" name="Google Shape;24;p3"/>
          <p:cNvGrpSpPr/>
          <p:nvPr/>
        </p:nvGrpSpPr>
        <p:grpSpPr>
          <a:xfrm>
            <a:off x="4600735" y="-767926"/>
            <a:ext cx="8182576" cy="5741689"/>
            <a:chOff x="3450551" y="-575945"/>
            <a:chExt cx="6136932" cy="4306267"/>
          </a:xfrm>
        </p:grpSpPr>
        <p:pic>
          <p:nvPicPr>
            <p:cNvPr id="25" name="Google Shape;25;p3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3450551" y="-575945"/>
              <a:ext cx="2338675" cy="23387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" name="Google Shape;26;p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270343" y="1413148"/>
              <a:ext cx="2317140" cy="231717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7" name="Google Shape;27;p3"/>
          <p:cNvGrpSpPr/>
          <p:nvPr/>
        </p:nvGrpSpPr>
        <p:grpSpPr>
          <a:xfrm>
            <a:off x="7646471" y="1068476"/>
            <a:ext cx="5952535" cy="5414933"/>
            <a:chOff x="5734853" y="801357"/>
            <a:chExt cx="4464401" cy="4061200"/>
          </a:xfrm>
        </p:grpSpPr>
        <p:pic>
          <p:nvPicPr>
            <p:cNvPr id="28" name="Google Shape;28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734853" y="3691757"/>
              <a:ext cx="1170776" cy="1170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658535" y="801357"/>
              <a:ext cx="3540719" cy="3540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085939" y="2228192"/>
              <a:ext cx="685948" cy="687084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70720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body" idx="1"/>
          </p:nvPr>
        </p:nvSpPr>
        <p:spPr>
          <a:xfrm>
            <a:off x="960000" y="1536633"/>
            <a:ext cx="102720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5" name="Google Shape;35;p4"/>
          <p:cNvGrpSpPr/>
          <p:nvPr/>
        </p:nvGrpSpPr>
        <p:grpSpPr>
          <a:xfrm rot="10800000" flipH="1">
            <a:off x="9616846" y="5516289"/>
            <a:ext cx="1785596" cy="1785596"/>
            <a:chOff x="3620002" y="1131752"/>
            <a:chExt cx="828301" cy="828301"/>
          </a:xfrm>
        </p:grpSpPr>
        <p:pic>
          <p:nvPicPr>
            <p:cNvPr id="36" name="Google Shape;36;p4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3620002" y="1131752"/>
              <a:ext cx="828301" cy="828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7" name="Google Shape;37;p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720721" y="1231931"/>
              <a:ext cx="626858" cy="627938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360198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1"/>
          </p:nvPr>
        </p:nvSpPr>
        <p:spPr>
          <a:xfrm>
            <a:off x="1955733" y="3124200"/>
            <a:ext cx="3488800" cy="6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subTitle" idx="2"/>
          </p:nvPr>
        </p:nvSpPr>
        <p:spPr>
          <a:xfrm>
            <a:off x="6747431" y="3124200"/>
            <a:ext cx="3488800" cy="6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ubTitle" idx="3"/>
          </p:nvPr>
        </p:nvSpPr>
        <p:spPr>
          <a:xfrm>
            <a:off x="1955748" y="3627233"/>
            <a:ext cx="3488800" cy="18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ubTitle" idx="4"/>
          </p:nvPr>
        </p:nvSpPr>
        <p:spPr>
          <a:xfrm>
            <a:off x="6747441" y="3627233"/>
            <a:ext cx="3488800" cy="18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45" name="Google Shape;45;p5"/>
          <p:cNvGrpSpPr/>
          <p:nvPr/>
        </p:nvGrpSpPr>
        <p:grpSpPr>
          <a:xfrm>
            <a:off x="2606837" y="1635394"/>
            <a:ext cx="8754167" cy="5719653"/>
            <a:chOff x="1955127" y="1226545"/>
            <a:chExt cx="6565625" cy="4289740"/>
          </a:xfrm>
        </p:grpSpPr>
        <p:pic>
          <p:nvPicPr>
            <p:cNvPr id="46" name="Google Shape;46;p5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1955127" y="4608495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7" name="Google Shape;47;p5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7612977" y="1226545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8" name="Google Shape;48;p5"/>
          <p:cNvGrpSpPr/>
          <p:nvPr/>
        </p:nvGrpSpPr>
        <p:grpSpPr>
          <a:xfrm>
            <a:off x="2248202" y="1482601"/>
            <a:ext cx="9507969" cy="4904449"/>
            <a:chOff x="1686151" y="1111950"/>
            <a:chExt cx="7130977" cy="3678337"/>
          </a:xfrm>
        </p:grpSpPr>
        <p:pic>
          <p:nvPicPr>
            <p:cNvPr id="49" name="Google Shape;49;p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>
              <a:off x="1686151" y="4426712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0" name="Google Shape;50;p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245421" y="1111950"/>
              <a:ext cx="571707" cy="5727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861359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10867" y="4500"/>
            <a:ext cx="12192000" cy="68580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953467" y="2208100"/>
            <a:ext cx="42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body" idx="1"/>
          </p:nvPr>
        </p:nvSpPr>
        <p:spPr>
          <a:xfrm>
            <a:off x="953467" y="2895500"/>
            <a:ext cx="4286400" cy="17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Google Shape;64;p7"/>
          <p:cNvSpPr>
            <a:spLocks noGrp="1"/>
          </p:cNvSpPr>
          <p:nvPr>
            <p:ph type="pic" idx="2"/>
          </p:nvPr>
        </p:nvSpPr>
        <p:spPr>
          <a:xfrm>
            <a:off x="5905500" y="0"/>
            <a:ext cx="6286400" cy="6858000"/>
          </a:xfrm>
          <a:prstGeom prst="rect">
            <a:avLst/>
          </a:prstGeom>
          <a:noFill/>
          <a:ln>
            <a:noFill/>
          </a:ln>
        </p:spPr>
      </p:sp>
      <p:pic>
        <p:nvPicPr>
          <p:cNvPr id="65" name="Google Shape;65;p7"/>
          <p:cNvPicPr preferRelativeResize="0"/>
          <p:nvPr/>
        </p:nvPicPr>
        <p:blipFill>
          <a:blip r:embed="rId2">
            <a:alphaModFix amt="44000"/>
          </a:blip>
          <a:stretch>
            <a:fillRect/>
          </a:stretch>
        </p:blipFill>
        <p:spPr>
          <a:xfrm>
            <a:off x="3279937" y="5943960"/>
            <a:ext cx="1210367" cy="121038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6" name="Google Shape;66;p7"/>
          <p:cNvGrpSpPr/>
          <p:nvPr/>
        </p:nvGrpSpPr>
        <p:grpSpPr>
          <a:xfrm>
            <a:off x="-517234" y="4566085"/>
            <a:ext cx="4644735" cy="2225448"/>
            <a:chOff x="-387926" y="3424564"/>
            <a:chExt cx="3483551" cy="1669086"/>
          </a:xfrm>
        </p:grpSpPr>
        <p:pic>
          <p:nvPicPr>
            <p:cNvPr id="67" name="Google Shape;67;p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>
              <a:off x="2732051" y="4730075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8" name="Google Shape;68;p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-387926" y="3424564"/>
              <a:ext cx="979200" cy="980923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539617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8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71" name="Google Shape;71;p8"/>
          <p:cNvSpPr txBox="1">
            <a:spLocks noGrp="1"/>
          </p:cNvSpPr>
          <p:nvPr>
            <p:ph type="title"/>
          </p:nvPr>
        </p:nvSpPr>
        <p:spPr>
          <a:xfrm>
            <a:off x="1850800" y="1742800"/>
            <a:ext cx="8490400" cy="33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8299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9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74" name="Google Shape;74;p9"/>
          <p:cNvSpPr txBox="1">
            <a:spLocks noGrp="1"/>
          </p:cNvSpPr>
          <p:nvPr>
            <p:ph type="title"/>
          </p:nvPr>
        </p:nvSpPr>
        <p:spPr>
          <a:xfrm>
            <a:off x="2988567" y="2141733"/>
            <a:ext cx="6214800" cy="112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subTitle" idx="1"/>
          </p:nvPr>
        </p:nvSpPr>
        <p:spPr>
          <a:xfrm>
            <a:off x="2988633" y="3309067"/>
            <a:ext cx="6214800" cy="14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03639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 hasCustomPrompt="1"/>
          </p:nvPr>
        </p:nvSpPr>
        <p:spPr>
          <a:xfrm>
            <a:off x="953467" y="2397351"/>
            <a:ext cx="5334000" cy="160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81" name="Google Shape;81;p11"/>
          <p:cNvSpPr txBox="1">
            <a:spLocks noGrp="1"/>
          </p:cNvSpPr>
          <p:nvPr>
            <p:ph type="subTitle" idx="1"/>
          </p:nvPr>
        </p:nvSpPr>
        <p:spPr>
          <a:xfrm>
            <a:off x="953467" y="3869849"/>
            <a:ext cx="5334000" cy="5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82" name="Google Shape;82;p11"/>
          <p:cNvGrpSpPr/>
          <p:nvPr/>
        </p:nvGrpSpPr>
        <p:grpSpPr>
          <a:xfrm>
            <a:off x="5308604" y="-1016000"/>
            <a:ext cx="7151931" cy="9079031"/>
            <a:chOff x="3981453" y="-762000"/>
            <a:chExt cx="5363948" cy="6809273"/>
          </a:xfrm>
        </p:grpSpPr>
        <p:pic>
          <p:nvPicPr>
            <p:cNvPr id="83" name="Google Shape;83;p11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6333623" y="1827998"/>
              <a:ext cx="3011778" cy="1487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4" name="Google Shape;84;p1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3981453" y="-762000"/>
              <a:ext cx="1943098" cy="1943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5" name="Google Shape;85;p11"/>
            <p:cNvPicPr preferRelativeResize="0"/>
            <p:nvPr/>
          </p:nvPicPr>
          <p:blipFill>
            <a:blip r:embed="rId4">
              <a:alphaModFix amt="44000"/>
            </a:blip>
            <a:stretch>
              <a:fillRect/>
            </a:stretch>
          </p:blipFill>
          <p:spPr>
            <a:xfrm flipH="1">
              <a:off x="5183801" y="4271273"/>
              <a:ext cx="1776000" cy="177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6" name="Google Shape;86;p11"/>
            <p:cNvPicPr preferRelativeResize="0"/>
            <p:nvPr/>
          </p:nvPicPr>
          <p:blipFill>
            <a:blip r:embed="rId5">
              <a:alphaModFix amt="26000"/>
            </a:blip>
            <a:stretch>
              <a:fillRect/>
            </a:stretch>
          </p:blipFill>
          <p:spPr>
            <a:xfrm flipH="1">
              <a:off x="5695325" y="4782156"/>
              <a:ext cx="753054" cy="754279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978933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90" name="Google Shape;90;p13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 idx="2" hasCustomPrompt="1"/>
          </p:nvPr>
        </p:nvSpPr>
        <p:spPr>
          <a:xfrm>
            <a:off x="1426627" y="2220411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3" hasCustomPrompt="1"/>
          </p:nvPr>
        </p:nvSpPr>
        <p:spPr>
          <a:xfrm>
            <a:off x="1426627" y="4286088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4" hasCustomPrompt="1"/>
          </p:nvPr>
        </p:nvSpPr>
        <p:spPr>
          <a:xfrm>
            <a:off x="4753797" y="2220411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5" hasCustomPrompt="1"/>
          </p:nvPr>
        </p:nvSpPr>
        <p:spPr>
          <a:xfrm>
            <a:off x="4753797" y="4286088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6" hasCustomPrompt="1"/>
          </p:nvPr>
        </p:nvSpPr>
        <p:spPr>
          <a:xfrm>
            <a:off x="8080967" y="2220411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title" idx="7" hasCustomPrompt="1"/>
          </p:nvPr>
        </p:nvSpPr>
        <p:spPr>
          <a:xfrm>
            <a:off x="8080967" y="4286088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1426627" y="2690033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8"/>
          </p:nvPr>
        </p:nvSpPr>
        <p:spPr>
          <a:xfrm>
            <a:off x="4753797" y="2690033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9"/>
          </p:nvPr>
        </p:nvSpPr>
        <p:spPr>
          <a:xfrm>
            <a:off x="8080967" y="2690033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13"/>
          </p:nvPr>
        </p:nvSpPr>
        <p:spPr>
          <a:xfrm>
            <a:off x="1426627" y="4755900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14"/>
          </p:nvPr>
        </p:nvSpPr>
        <p:spPr>
          <a:xfrm>
            <a:off x="4753797" y="4755900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15"/>
          </p:nvPr>
        </p:nvSpPr>
        <p:spPr>
          <a:xfrm>
            <a:off x="8080967" y="4755900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03" name="Google Shape;103;p13"/>
          <p:cNvGrpSpPr/>
          <p:nvPr/>
        </p:nvGrpSpPr>
        <p:grpSpPr>
          <a:xfrm>
            <a:off x="-790283" y="514033"/>
            <a:ext cx="14116500" cy="6779867"/>
            <a:chOff x="-592713" y="385525"/>
            <a:chExt cx="10587375" cy="5084900"/>
          </a:xfrm>
        </p:grpSpPr>
        <p:pic>
          <p:nvPicPr>
            <p:cNvPr id="104" name="Google Shape;104;p1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220525" y="448127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" name="Google Shape;105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592713" y="3366000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" name="Google Shape;106;p1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162200" y="38552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7" name="Google Shape;107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639687" y="1110162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8" name="Google Shape;108;p13"/>
          <p:cNvGrpSpPr/>
          <p:nvPr/>
        </p:nvGrpSpPr>
        <p:grpSpPr>
          <a:xfrm>
            <a:off x="655059" y="904834"/>
            <a:ext cx="11155941" cy="6028033"/>
            <a:chOff x="491294" y="678625"/>
            <a:chExt cx="8366956" cy="4521025"/>
          </a:xfrm>
        </p:grpSpPr>
        <p:pic>
          <p:nvPicPr>
            <p:cNvPr id="109" name="Google Shape;109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455275" y="678625"/>
              <a:ext cx="402975" cy="4029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" name="Google Shape;110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91294" y="4752050"/>
              <a:ext cx="447616" cy="4476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218260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13" name="Google Shape;113;p1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14" name="Google Shape;114;p14"/>
          <p:cNvGrpSpPr/>
          <p:nvPr/>
        </p:nvGrpSpPr>
        <p:grpSpPr>
          <a:xfrm>
            <a:off x="8216884" y="-922133"/>
            <a:ext cx="2368000" cy="2368000"/>
            <a:chOff x="6162663" y="-691600"/>
            <a:chExt cx="1776000" cy="1776000"/>
          </a:xfrm>
        </p:grpSpPr>
        <p:pic>
          <p:nvPicPr>
            <p:cNvPr id="115" name="Google Shape;115;p14"/>
            <p:cNvPicPr preferRelativeResize="0"/>
            <p:nvPr/>
          </p:nvPicPr>
          <p:blipFill>
            <a:blip r:embed="rId2">
              <a:alphaModFix amt="26000"/>
            </a:blip>
            <a:stretch>
              <a:fillRect/>
            </a:stretch>
          </p:blipFill>
          <p:spPr>
            <a:xfrm rot="10800000">
              <a:off x="6674187" y="-180761"/>
              <a:ext cx="753054" cy="754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6" name="Google Shape;116;p14"/>
            <p:cNvPicPr preferRelativeResize="0"/>
            <p:nvPr/>
          </p:nvPicPr>
          <p:blipFill>
            <a:blip r:embed="rId3">
              <a:alphaModFix amt="44000"/>
            </a:blip>
            <a:stretch>
              <a:fillRect/>
            </a:stretch>
          </p:blipFill>
          <p:spPr>
            <a:xfrm rot="10800000">
              <a:off x="6162663" y="-691600"/>
              <a:ext cx="1776000" cy="1776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7459093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5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19" name="Google Shape;119;p1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120" name="Google Shape;120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9728452" y="593360"/>
            <a:ext cx="2664560" cy="763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8775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23" name="Google Shape;123;p1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24" name="Google Shape;124;p16"/>
          <p:cNvGrpSpPr/>
          <p:nvPr/>
        </p:nvGrpSpPr>
        <p:grpSpPr>
          <a:xfrm>
            <a:off x="2702536" y="2581743"/>
            <a:ext cx="8874367" cy="4963803"/>
            <a:chOff x="2026902" y="1936307"/>
            <a:chExt cx="6655775" cy="3722852"/>
          </a:xfrm>
        </p:grpSpPr>
        <p:pic>
          <p:nvPicPr>
            <p:cNvPr id="125" name="Google Shape;125;p16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7774902" y="1936307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6" name="Google Shape;126;p16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2026902" y="4751370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7" name="Google Shape;127;p16"/>
          <p:cNvGrpSpPr/>
          <p:nvPr/>
        </p:nvGrpSpPr>
        <p:grpSpPr>
          <a:xfrm>
            <a:off x="3912902" y="2428951"/>
            <a:ext cx="8059169" cy="4339100"/>
            <a:chOff x="2934676" y="1821713"/>
            <a:chExt cx="6044377" cy="3254325"/>
          </a:xfrm>
        </p:grpSpPr>
        <p:pic>
          <p:nvPicPr>
            <p:cNvPr id="128" name="Google Shape;128;p1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07346" y="1821713"/>
              <a:ext cx="571707" cy="572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9" name="Google Shape;129;p1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>
              <a:off x="2934676" y="4712462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113638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32" name="Google Shape;132;p1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133" name="Google Shape;133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201" y="5921233"/>
            <a:ext cx="763572" cy="76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777198" y="4394808"/>
            <a:ext cx="1434067" cy="143408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37169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 only 5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137" name="Google Shape;137;p18"/>
          <p:cNvGrpSpPr/>
          <p:nvPr/>
        </p:nvGrpSpPr>
        <p:grpSpPr>
          <a:xfrm>
            <a:off x="-790283" y="514033"/>
            <a:ext cx="14116500" cy="6779867"/>
            <a:chOff x="-592713" y="385525"/>
            <a:chExt cx="10587375" cy="5084900"/>
          </a:xfrm>
        </p:grpSpPr>
        <p:pic>
          <p:nvPicPr>
            <p:cNvPr id="138" name="Google Shape;138;p1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220525" y="448127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9" name="Google Shape;139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592713" y="3366000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0" name="Google Shape;140;p1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162200" y="38552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1" name="Google Shape;141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639687" y="1110162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2" name="Google Shape;142;p18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43" name="Google Shape;143;p18"/>
          <p:cNvGrpSpPr/>
          <p:nvPr/>
        </p:nvGrpSpPr>
        <p:grpSpPr>
          <a:xfrm>
            <a:off x="655059" y="904834"/>
            <a:ext cx="11155941" cy="6028033"/>
            <a:chOff x="491294" y="678625"/>
            <a:chExt cx="8366956" cy="4521025"/>
          </a:xfrm>
        </p:grpSpPr>
        <p:pic>
          <p:nvPicPr>
            <p:cNvPr id="144" name="Google Shape;144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91294" y="4752050"/>
              <a:ext cx="447616" cy="447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5" name="Google Shape;145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455275" y="678625"/>
              <a:ext cx="402975" cy="40295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3160649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48" name="Google Shape;148;p1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149" name="Google Shape;149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678101" y="279609"/>
            <a:ext cx="1210367" cy="121038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0" name="Google Shape;150;p19"/>
          <p:cNvGrpSpPr/>
          <p:nvPr/>
        </p:nvGrpSpPr>
        <p:grpSpPr>
          <a:xfrm>
            <a:off x="10378867" y="354537"/>
            <a:ext cx="1639133" cy="1316196"/>
            <a:chOff x="7784150" y="265902"/>
            <a:chExt cx="1229350" cy="987147"/>
          </a:xfrm>
        </p:grpSpPr>
        <p:pic>
          <p:nvPicPr>
            <p:cNvPr id="151" name="Google Shape;151;p1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93900" y="733486"/>
              <a:ext cx="519600" cy="5195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2" name="Google Shape;152;p1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784150" y="265902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8571499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7">
  <p:cSld name="Title only 7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0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55" name="Google Shape;155;p20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56" name="Google Shape;156;p20"/>
          <p:cNvGrpSpPr/>
          <p:nvPr/>
        </p:nvGrpSpPr>
        <p:grpSpPr>
          <a:xfrm>
            <a:off x="4288634" y="515409"/>
            <a:ext cx="7289879" cy="7583260"/>
            <a:chOff x="3216475" y="386556"/>
            <a:chExt cx="5467409" cy="5687445"/>
          </a:xfrm>
        </p:grpSpPr>
        <p:pic>
          <p:nvPicPr>
            <p:cNvPr id="157" name="Google Shape;157;p20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945310" y="386556"/>
              <a:ext cx="738575" cy="7385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216475" y="4648200"/>
              <a:ext cx="1425801" cy="142580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9" name="Google Shape;159;p20"/>
          <p:cNvGrpSpPr/>
          <p:nvPr/>
        </p:nvGrpSpPr>
        <p:grpSpPr>
          <a:xfrm>
            <a:off x="3996133" y="254004"/>
            <a:ext cx="7843800" cy="6293595"/>
            <a:chOff x="2997100" y="190503"/>
            <a:chExt cx="5882850" cy="4720196"/>
          </a:xfrm>
        </p:grpSpPr>
        <p:pic>
          <p:nvPicPr>
            <p:cNvPr id="160" name="Google Shape;160;p2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749250" y="190503"/>
              <a:ext cx="1130700" cy="1130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997100" y="475397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674000" y="138212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7888304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1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65" name="Google Shape;165;p21"/>
          <p:cNvSpPr txBox="1">
            <a:spLocks noGrp="1"/>
          </p:cNvSpPr>
          <p:nvPr>
            <p:ph type="subTitle" idx="1"/>
          </p:nvPr>
        </p:nvSpPr>
        <p:spPr>
          <a:xfrm>
            <a:off x="5218933" y="2993251"/>
            <a:ext cx="6019600" cy="222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LcPeriod"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romanLcPeriod"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rabicPeriod"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LcPeriod"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romanLcPeriod"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rabicPeriod"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LcPeriod"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romanLcPeriod"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5218933" y="1637117"/>
            <a:ext cx="6019600" cy="139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67" name="Google Shape;167;p21"/>
          <p:cNvSpPr>
            <a:spLocks noGrp="1"/>
          </p:cNvSpPr>
          <p:nvPr>
            <p:ph type="pic" idx="2"/>
          </p:nvPr>
        </p:nvSpPr>
        <p:spPr>
          <a:xfrm>
            <a:off x="2282784" y="1441467"/>
            <a:ext cx="2256800" cy="3956000"/>
          </a:xfrm>
          <a:prstGeom prst="rect">
            <a:avLst/>
          </a:prstGeom>
          <a:noFill/>
          <a:ln>
            <a:noFill/>
          </a:ln>
        </p:spPr>
      </p:sp>
      <p:pic>
        <p:nvPicPr>
          <p:cNvPr id="168" name="Google Shape;168;p21"/>
          <p:cNvPicPr preferRelativeResize="0"/>
          <p:nvPr/>
        </p:nvPicPr>
        <p:blipFill>
          <a:blip r:embed="rId2">
            <a:alphaModFix amt="44000"/>
          </a:blip>
          <a:stretch>
            <a:fillRect/>
          </a:stretch>
        </p:blipFill>
        <p:spPr>
          <a:xfrm>
            <a:off x="5218933" y="5734333"/>
            <a:ext cx="1654700" cy="1654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9" name="Google Shape;169;p21"/>
          <p:cNvGrpSpPr/>
          <p:nvPr/>
        </p:nvGrpSpPr>
        <p:grpSpPr>
          <a:xfrm>
            <a:off x="-377833" y="-398936"/>
            <a:ext cx="12150733" cy="7291973"/>
            <a:chOff x="-283375" y="-299202"/>
            <a:chExt cx="9113050" cy="5468980"/>
          </a:xfrm>
        </p:grpSpPr>
        <p:pic>
          <p:nvPicPr>
            <p:cNvPr id="170" name="Google Shape;170;p2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283375" y="3529307"/>
              <a:ext cx="770100" cy="77143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2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>
              <a:off x="4286191" y="4672736"/>
              <a:ext cx="497038" cy="4970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2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-5400000">
              <a:off x="7588650" y="-299202"/>
              <a:ext cx="1241025" cy="124102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8458711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2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75" name="Google Shape;175;p22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76" name="Google Shape;176;p22"/>
          <p:cNvSpPr txBox="1">
            <a:spLocks noGrp="1"/>
          </p:cNvSpPr>
          <p:nvPr>
            <p:ph type="body" idx="1"/>
          </p:nvPr>
        </p:nvSpPr>
        <p:spPr>
          <a:xfrm>
            <a:off x="960000" y="1536633"/>
            <a:ext cx="102720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812780" lvl="1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77" name="Google Shape;17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63733" y="4388268"/>
            <a:ext cx="4634665" cy="4634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80612" y="3662117"/>
            <a:ext cx="2096545" cy="209654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644685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3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181" name="Google Shape;181;p23"/>
          <p:cNvGrpSpPr/>
          <p:nvPr/>
        </p:nvGrpSpPr>
        <p:grpSpPr>
          <a:xfrm>
            <a:off x="2356271" y="956906"/>
            <a:ext cx="9803431" cy="6967895"/>
            <a:chOff x="1767203" y="717679"/>
            <a:chExt cx="7352573" cy="5225921"/>
          </a:xfrm>
        </p:grpSpPr>
        <p:pic>
          <p:nvPicPr>
            <p:cNvPr id="182" name="Google Shape;182;p2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1767203" y="4000500"/>
              <a:ext cx="1943098" cy="1943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2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092675" y="717679"/>
              <a:ext cx="1027100" cy="102711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4" name="Google Shape;184;p23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85" name="Google Shape;185;p23"/>
          <p:cNvSpPr txBox="1">
            <a:spLocks noGrp="1"/>
          </p:cNvSpPr>
          <p:nvPr>
            <p:ph type="subTitle" idx="1"/>
          </p:nvPr>
        </p:nvSpPr>
        <p:spPr>
          <a:xfrm>
            <a:off x="1181900" y="3390900"/>
            <a:ext cx="2907200" cy="537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6" name="Google Shape;186;p23"/>
          <p:cNvSpPr txBox="1">
            <a:spLocks noGrp="1"/>
          </p:cNvSpPr>
          <p:nvPr>
            <p:ph type="subTitle" idx="2"/>
          </p:nvPr>
        </p:nvSpPr>
        <p:spPr>
          <a:xfrm>
            <a:off x="1181900" y="3771900"/>
            <a:ext cx="2907200" cy="11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7" name="Google Shape;187;p23"/>
          <p:cNvSpPr txBox="1">
            <a:spLocks noGrp="1"/>
          </p:cNvSpPr>
          <p:nvPr>
            <p:ph type="subTitle" idx="3"/>
          </p:nvPr>
        </p:nvSpPr>
        <p:spPr>
          <a:xfrm>
            <a:off x="4642384" y="3771900"/>
            <a:ext cx="2907200" cy="11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8" name="Google Shape;188;p23"/>
          <p:cNvSpPr txBox="1">
            <a:spLocks noGrp="1"/>
          </p:cNvSpPr>
          <p:nvPr>
            <p:ph type="subTitle" idx="4"/>
          </p:nvPr>
        </p:nvSpPr>
        <p:spPr>
          <a:xfrm>
            <a:off x="8102900" y="3771900"/>
            <a:ext cx="2907200" cy="11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9" name="Google Shape;189;p23"/>
          <p:cNvSpPr txBox="1">
            <a:spLocks noGrp="1"/>
          </p:cNvSpPr>
          <p:nvPr>
            <p:ph type="subTitle" idx="5"/>
          </p:nvPr>
        </p:nvSpPr>
        <p:spPr>
          <a:xfrm>
            <a:off x="4642384" y="3390900"/>
            <a:ext cx="2907200" cy="537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90" name="Google Shape;190;p23"/>
          <p:cNvSpPr txBox="1">
            <a:spLocks noGrp="1"/>
          </p:cNvSpPr>
          <p:nvPr>
            <p:ph type="subTitle" idx="6"/>
          </p:nvPr>
        </p:nvSpPr>
        <p:spPr>
          <a:xfrm>
            <a:off x="8102900" y="3390900"/>
            <a:ext cx="2907200" cy="537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91" name="Google Shape;191;p23"/>
          <p:cNvGrpSpPr/>
          <p:nvPr/>
        </p:nvGrpSpPr>
        <p:grpSpPr>
          <a:xfrm>
            <a:off x="3061023" y="593384"/>
            <a:ext cx="9462223" cy="6626617"/>
            <a:chOff x="2295767" y="445037"/>
            <a:chExt cx="7096667" cy="4969963"/>
          </a:xfrm>
        </p:grpSpPr>
        <p:pic>
          <p:nvPicPr>
            <p:cNvPr id="192" name="Google Shape;192;p2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295767" y="4529100"/>
              <a:ext cx="885943" cy="885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3" name="Google Shape;193;p2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7820025" y="445037"/>
              <a:ext cx="1572409" cy="1572411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4899461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5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209" name="Google Shape;209;p2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10" name="Google Shape;210;p25"/>
          <p:cNvSpPr txBox="1">
            <a:spLocks noGrp="1"/>
          </p:cNvSpPr>
          <p:nvPr>
            <p:ph type="subTitle" idx="1"/>
          </p:nvPr>
        </p:nvSpPr>
        <p:spPr>
          <a:xfrm>
            <a:off x="963433" y="297413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1" name="Google Shape;211;p25"/>
          <p:cNvSpPr txBox="1">
            <a:spLocks noGrp="1"/>
          </p:cNvSpPr>
          <p:nvPr>
            <p:ph type="subTitle" idx="2"/>
          </p:nvPr>
        </p:nvSpPr>
        <p:spPr>
          <a:xfrm>
            <a:off x="4563771" y="297413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2" name="Google Shape;212;p25"/>
          <p:cNvSpPr txBox="1">
            <a:spLocks noGrp="1"/>
          </p:cNvSpPr>
          <p:nvPr>
            <p:ph type="subTitle" idx="3"/>
          </p:nvPr>
        </p:nvSpPr>
        <p:spPr>
          <a:xfrm>
            <a:off x="8157688" y="2974137"/>
            <a:ext cx="30744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3" name="Google Shape;213;p25"/>
          <p:cNvSpPr txBox="1">
            <a:spLocks noGrp="1"/>
          </p:cNvSpPr>
          <p:nvPr>
            <p:ph type="subTitle" idx="4"/>
          </p:nvPr>
        </p:nvSpPr>
        <p:spPr>
          <a:xfrm>
            <a:off x="963433" y="54282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4" name="Google Shape;214;p25"/>
          <p:cNvSpPr txBox="1">
            <a:spLocks noGrp="1"/>
          </p:cNvSpPr>
          <p:nvPr>
            <p:ph type="subTitle" idx="5"/>
          </p:nvPr>
        </p:nvSpPr>
        <p:spPr>
          <a:xfrm>
            <a:off x="4563771" y="54282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5" name="Google Shape;215;p25"/>
          <p:cNvSpPr txBox="1">
            <a:spLocks noGrp="1"/>
          </p:cNvSpPr>
          <p:nvPr>
            <p:ph type="subTitle" idx="6"/>
          </p:nvPr>
        </p:nvSpPr>
        <p:spPr>
          <a:xfrm>
            <a:off x="8157688" y="5428267"/>
            <a:ext cx="30744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6" name="Google Shape;216;p25"/>
          <p:cNvSpPr txBox="1">
            <a:spLocks noGrp="1"/>
          </p:cNvSpPr>
          <p:nvPr>
            <p:ph type="subTitle" idx="7"/>
          </p:nvPr>
        </p:nvSpPr>
        <p:spPr>
          <a:xfrm>
            <a:off x="963433" y="24210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7" name="Google Shape;217;p25"/>
          <p:cNvSpPr txBox="1">
            <a:spLocks noGrp="1"/>
          </p:cNvSpPr>
          <p:nvPr>
            <p:ph type="subTitle" idx="8"/>
          </p:nvPr>
        </p:nvSpPr>
        <p:spPr>
          <a:xfrm>
            <a:off x="4563780" y="24210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9"/>
          </p:nvPr>
        </p:nvSpPr>
        <p:spPr>
          <a:xfrm>
            <a:off x="8164131" y="2421067"/>
            <a:ext cx="30744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13"/>
          </p:nvPr>
        </p:nvSpPr>
        <p:spPr>
          <a:xfrm>
            <a:off x="963433" y="4880609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14"/>
          </p:nvPr>
        </p:nvSpPr>
        <p:spPr>
          <a:xfrm>
            <a:off x="4563780" y="4880608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15"/>
          </p:nvPr>
        </p:nvSpPr>
        <p:spPr>
          <a:xfrm>
            <a:off x="8160871" y="4880609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222" name="Google Shape;222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678101" y="279609"/>
            <a:ext cx="1210367" cy="121038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3" name="Google Shape;223;p25"/>
          <p:cNvGrpSpPr/>
          <p:nvPr/>
        </p:nvGrpSpPr>
        <p:grpSpPr>
          <a:xfrm>
            <a:off x="11178968" y="977982"/>
            <a:ext cx="839033" cy="1015517"/>
            <a:chOff x="8384225" y="733486"/>
            <a:chExt cx="629275" cy="761638"/>
          </a:xfrm>
        </p:grpSpPr>
        <p:pic>
          <p:nvPicPr>
            <p:cNvPr id="224" name="Google Shape;224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93900" y="733486"/>
              <a:ext cx="519600" cy="5195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5" name="Google Shape;225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384225" y="1338402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7434322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7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242" name="Google Shape;242;p27"/>
          <p:cNvSpPr txBox="1">
            <a:spLocks noGrp="1"/>
          </p:cNvSpPr>
          <p:nvPr>
            <p:ph type="ctrTitle"/>
          </p:nvPr>
        </p:nvSpPr>
        <p:spPr>
          <a:xfrm>
            <a:off x="7289800" y="1007117"/>
            <a:ext cx="3948800" cy="140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"/>
          </p:nvPr>
        </p:nvSpPr>
        <p:spPr>
          <a:xfrm>
            <a:off x="7289900" y="2355932"/>
            <a:ext cx="3948800" cy="13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244" name="Google Shape;244;p27"/>
          <p:cNvPicPr preferRelativeResize="0"/>
          <p:nvPr/>
        </p:nvPicPr>
        <p:blipFill>
          <a:blip r:embed="rId2">
            <a:alphaModFix amt="44000"/>
          </a:blip>
          <a:stretch>
            <a:fillRect/>
          </a:stretch>
        </p:blipFill>
        <p:spPr>
          <a:xfrm rot="10800000" flipH="1">
            <a:off x="-2282665" y="3612326"/>
            <a:ext cx="3118233" cy="311831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5" name="Google Shape;245;p27"/>
          <p:cNvGrpSpPr/>
          <p:nvPr/>
        </p:nvGrpSpPr>
        <p:grpSpPr>
          <a:xfrm>
            <a:off x="763071" y="7"/>
            <a:ext cx="1561035" cy="1561067"/>
            <a:chOff x="572303" y="5"/>
            <a:chExt cx="1170776" cy="1170800"/>
          </a:xfrm>
        </p:grpSpPr>
        <p:pic>
          <p:nvPicPr>
            <p:cNvPr id="246" name="Google Shape;246;p2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911612" y="338937"/>
              <a:ext cx="492152" cy="4929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7" name="Google Shape;247;p2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10800000" flipH="1">
              <a:off x="572303" y="5"/>
              <a:ext cx="1170776" cy="11708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851206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251" name="Google Shape;251;p28"/>
          <p:cNvGrpSpPr/>
          <p:nvPr/>
        </p:nvGrpSpPr>
        <p:grpSpPr>
          <a:xfrm>
            <a:off x="4288634" y="515409"/>
            <a:ext cx="7289879" cy="7583260"/>
            <a:chOff x="3216475" y="386556"/>
            <a:chExt cx="5467409" cy="5687445"/>
          </a:xfrm>
        </p:grpSpPr>
        <p:pic>
          <p:nvPicPr>
            <p:cNvPr id="252" name="Google Shape;252;p2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945310" y="386556"/>
              <a:ext cx="738575" cy="7385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3" name="Google Shape;253;p2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216475" y="4648200"/>
              <a:ext cx="1425801" cy="142580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54" name="Google Shape;254;p28"/>
          <p:cNvGrpSpPr/>
          <p:nvPr/>
        </p:nvGrpSpPr>
        <p:grpSpPr>
          <a:xfrm>
            <a:off x="3996133" y="254004"/>
            <a:ext cx="7843800" cy="6293595"/>
            <a:chOff x="2997100" y="190503"/>
            <a:chExt cx="5882850" cy="4720196"/>
          </a:xfrm>
        </p:grpSpPr>
        <p:pic>
          <p:nvPicPr>
            <p:cNvPr id="255" name="Google Shape;255;p2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749250" y="190503"/>
              <a:ext cx="1130700" cy="1130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6" name="Google Shape;256;p2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997100" y="475397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7" name="Google Shape;257;p2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674000" y="138212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66349998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9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260" name="Google Shape;260;p29"/>
          <p:cNvGrpSpPr/>
          <p:nvPr/>
        </p:nvGrpSpPr>
        <p:grpSpPr>
          <a:xfrm>
            <a:off x="2702536" y="2581743"/>
            <a:ext cx="8874367" cy="4963803"/>
            <a:chOff x="2026902" y="1936307"/>
            <a:chExt cx="6655775" cy="3722852"/>
          </a:xfrm>
        </p:grpSpPr>
        <p:pic>
          <p:nvPicPr>
            <p:cNvPr id="261" name="Google Shape;261;p29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7774902" y="1936307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2" name="Google Shape;262;p29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2026902" y="4751370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63" name="Google Shape;263;p29"/>
          <p:cNvGrpSpPr/>
          <p:nvPr/>
        </p:nvGrpSpPr>
        <p:grpSpPr>
          <a:xfrm>
            <a:off x="3912902" y="2428951"/>
            <a:ext cx="8059169" cy="4339100"/>
            <a:chOff x="2934676" y="1821713"/>
            <a:chExt cx="6044377" cy="3254325"/>
          </a:xfrm>
        </p:grpSpPr>
        <p:pic>
          <p:nvPicPr>
            <p:cNvPr id="264" name="Google Shape;264;p2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07346" y="1821713"/>
              <a:ext cx="571707" cy="572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p2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>
              <a:off x="2934676" y="4712462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3790212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38488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00840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3467" y="593367"/>
            <a:ext cx="102852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3467" y="1536633"/>
            <a:ext cx="10285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6765947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6" r:id="rId5"/>
    <p:sldLayoutId id="2147483667" r:id="rId6"/>
    <p:sldLayoutId id="2147483668" r:id="rId7"/>
    <p:sldLayoutId id="2147483670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4" r:id="rId20"/>
    <p:sldLayoutId id="2147483686" r:id="rId21"/>
    <p:sldLayoutId id="2147483687" r:id="rId22"/>
    <p:sldLayoutId id="2147483688" r:id="rId23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0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268" name="Google Shape;268;p30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2354503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pluspng.com/png-180028.html" TargetMode="External"/><Relationship Id="rId13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12" Type="http://schemas.openxmlformats.org/officeDocument/2006/relationships/hyperlink" Target="https://iconape.com/c-logo-icon-svg-png.html" TargetMode="External"/><Relationship Id="rId2" Type="http://schemas.openxmlformats.org/officeDocument/2006/relationships/hyperlink" Target="https://logos-world.net/github-logo/" TargetMode="External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freepnglogo.com/image/figma-logo-black-and-white" TargetMode="External"/><Relationship Id="rId11" Type="http://schemas.openxmlformats.org/officeDocument/2006/relationships/image" Target="../media/image18.png"/><Relationship Id="rId5" Type="http://schemas.openxmlformats.org/officeDocument/2006/relationships/image" Target="../media/image15.png"/><Relationship Id="rId15" Type="http://schemas.openxmlformats.org/officeDocument/2006/relationships/image" Target="../media/image20.png"/><Relationship Id="rId10" Type="http://schemas.openxmlformats.org/officeDocument/2006/relationships/hyperlink" Target="https://bitpave.com/" TargetMode="External"/><Relationship Id="rId4" Type="http://schemas.openxmlformats.org/officeDocument/2006/relationships/hyperlink" Target="https://www.vecteezy.com/png/18930718-discord-logo-png-discord-icon-transparent-png" TargetMode="External"/><Relationship Id="rId9" Type="http://schemas.openxmlformats.org/officeDocument/2006/relationships/image" Target="../media/image17.png"/><Relationship Id="rId14" Type="http://schemas.openxmlformats.org/officeDocument/2006/relationships/hyperlink" Target="https://pngimg.com/image/60304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pluspng.com/png-180028.html" TargetMode="External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18.png"/><Relationship Id="rId4" Type="http://schemas.openxmlformats.org/officeDocument/2006/relationships/hyperlink" Target="https://bitpave.com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9.png"/><Relationship Id="rId2" Type="http://schemas.openxmlformats.org/officeDocument/2006/relationships/hyperlink" Target="https://pluspng.com/png-180028.html" TargetMode="External"/><Relationship Id="rId1" Type="http://schemas.openxmlformats.org/officeDocument/2006/relationships/slideLayout" Target="../slideLayouts/slideLayout19.xml"/><Relationship Id="rId6" Type="http://schemas.openxmlformats.org/officeDocument/2006/relationships/hyperlink" Target="https://iconape.com/c-logo-icon-svg-png.html" TargetMode="External"/><Relationship Id="rId5" Type="http://schemas.openxmlformats.org/officeDocument/2006/relationships/image" Target="../media/image18.png"/><Relationship Id="rId4" Type="http://schemas.openxmlformats.org/officeDocument/2006/relationships/hyperlink" Target="https://bitpave.com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9.png"/><Relationship Id="rId2" Type="http://schemas.openxmlformats.org/officeDocument/2006/relationships/hyperlink" Target="https://pluspng.com/png-180028.html" TargetMode="External"/><Relationship Id="rId1" Type="http://schemas.openxmlformats.org/officeDocument/2006/relationships/slideLayout" Target="../slideLayouts/slideLayout19.xml"/><Relationship Id="rId6" Type="http://schemas.openxmlformats.org/officeDocument/2006/relationships/hyperlink" Target="https://iconape.com/c-logo-icon-svg-png.html" TargetMode="External"/><Relationship Id="rId5" Type="http://schemas.openxmlformats.org/officeDocument/2006/relationships/image" Target="../media/image18.png"/><Relationship Id="rId4" Type="http://schemas.openxmlformats.org/officeDocument/2006/relationships/hyperlink" Target="https://bitpave.com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4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slidesgo.com/theme/5g-wireless-technology-mk-plan#search-purple&amp;position-108&amp;results-2157&amp;rs=search" TargetMode="Externa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CFEA2-8BD3-4162-A14E-5A370755EF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4654" y="3097096"/>
            <a:ext cx="10282691" cy="1021624"/>
          </a:xfrm>
        </p:spPr>
        <p:txBody>
          <a:bodyPr/>
          <a:lstStyle/>
          <a:p>
            <a:r>
              <a:rPr lang="en-GB" sz="6600" dirty="0"/>
              <a:t>Library Management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1118D-090B-4B78-A783-AB1F86640C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402983"/>
            <a:ext cx="8010939" cy="455017"/>
          </a:xfrm>
        </p:spPr>
        <p:txBody>
          <a:bodyPr/>
          <a:lstStyle/>
          <a:p>
            <a:pPr marL="9525" indent="-9525"/>
            <a:r>
              <a:rPr lang="en-GB" sz="2100" dirty="0">
                <a:latin typeface="Oxanium"/>
              </a:rPr>
              <a:t>Made by:  Zoltán András Tóth, Máté Vágvölgyi, Soma István Zsömbörgi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70AED58-821E-40F9-96DD-6D5878250FD5}"/>
              </a:ext>
            </a:extLst>
          </p:cNvPr>
          <p:cNvSpPr txBox="1">
            <a:spLocks/>
          </p:cNvSpPr>
          <p:nvPr/>
        </p:nvSpPr>
        <p:spPr>
          <a:xfrm>
            <a:off x="886654" y="2134206"/>
            <a:ext cx="10282691" cy="102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pPr algn="ctr"/>
            <a:r>
              <a:rPr lang="en-GB" sz="6600" dirty="0"/>
              <a:t>LMS</a:t>
            </a:r>
          </a:p>
        </p:txBody>
      </p:sp>
    </p:spTree>
    <p:extLst>
      <p:ext uri="{BB962C8B-B14F-4D97-AF65-F5344CB8AC3E}">
        <p14:creationId xmlns:p14="http://schemas.microsoft.com/office/powerpoint/2010/main" val="3722155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1C8BAD0D-43DE-4316-957D-7E1B4FC0D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1189" y="2980785"/>
            <a:ext cx="3929622" cy="896430"/>
          </a:xfrm>
        </p:spPr>
        <p:txBody>
          <a:bodyPr/>
          <a:lstStyle/>
          <a:p>
            <a:r>
              <a:rPr lang="en-GB" sz="5400" dirty="0"/>
              <a:t>The problem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7C5DCB7D-F93F-4AD0-8CE4-17A8B1CA7F30}"/>
              </a:ext>
            </a:extLst>
          </p:cNvPr>
          <p:cNvSpPr txBox="1">
            <a:spLocks/>
          </p:cNvSpPr>
          <p:nvPr/>
        </p:nvSpPr>
        <p:spPr>
          <a:xfrm>
            <a:off x="12810834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EDB4A5A8-ECFE-4865-BA36-945355C6E767}"/>
              </a:ext>
            </a:extLst>
          </p:cNvPr>
          <p:cNvSpPr txBox="1">
            <a:spLocks/>
          </p:cNvSpPr>
          <p:nvPr/>
        </p:nvSpPr>
        <p:spPr>
          <a:xfrm>
            <a:off x="12373512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41080737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1C8BAD0D-43DE-4316-957D-7E1B4FC0D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3325" y="2007704"/>
            <a:ext cx="3065348" cy="580553"/>
          </a:xfrm>
        </p:spPr>
        <p:txBody>
          <a:bodyPr/>
          <a:lstStyle/>
          <a:p>
            <a:r>
              <a:rPr lang="en-GB" sz="4000" dirty="0"/>
              <a:t>The problem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D56862-9EFA-4BCF-AA67-2DDAA70FCC07}"/>
              </a:ext>
            </a:extLst>
          </p:cNvPr>
          <p:cNvSpPr txBox="1">
            <a:spLocks/>
          </p:cNvSpPr>
          <p:nvPr/>
        </p:nvSpPr>
        <p:spPr>
          <a:xfrm>
            <a:off x="4126003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heard librarians say they are dissatisfied with the current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It was also inconvenient for us, students.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7C5DCB7D-F93F-4AD0-8CE4-17A8B1CA7F30}"/>
              </a:ext>
            </a:extLst>
          </p:cNvPr>
          <p:cNvSpPr txBox="1">
            <a:spLocks/>
          </p:cNvSpPr>
          <p:nvPr/>
        </p:nvSpPr>
        <p:spPr>
          <a:xfrm>
            <a:off x="12810834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EDB4A5A8-ECFE-4865-BA36-945355C6E767}"/>
              </a:ext>
            </a:extLst>
          </p:cNvPr>
          <p:cNvSpPr txBox="1">
            <a:spLocks/>
          </p:cNvSpPr>
          <p:nvPr/>
        </p:nvSpPr>
        <p:spPr>
          <a:xfrm>
            <a:off x="12373512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8798180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1C8BAD0D-43DE-4316-957D-7E1B4FC0D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3669" y="2007704"/>
            <a:ext cx="3065348" cy="580553"/>
          </a:xfrm>
        </p:spPr>
        <p:txBody>
          <a:bodyPr/>
          <a:lstStyle/>
          <a:p>
            <a:r>
              <a:rPr lang="en-GB" sz="4000" dirty="0"/>
              <a:t>The problem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D56862-9EFA-4BCF-AA67-2DDAA70FCC07}"/>
              </a:ext>
            </a:extLst>
          </p:cNvPr>
          <p:cNvSpPr txBox="1">
            <a:spLocks/>
          </p:cNvSpPr>
          <p:nvPr/>
        </p:nvSpPr>
        <p:spPr>
          <a:xfrm>
            <a:off x="1556347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heard librarians say they are dissatisfied with the current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It was also inconvenient for us, students.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7C5DCB7D-F93F-4AD0-8CE4-17A8B1CA7F30}"/>
              </a:ext>
            </a:extLst>
          </p:cNvPr>
          <p:cNvSpPr txBox="1">
            <a:spLocks/>
          </p:cNvSpPr>
          <p:nvPr/>
        </p:nvSpPr>
        <p:spPr>
          <a:xfrm>
            <a:off x="7115634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EDB4A5A8-ECFE-4865-BA36-945355C6E767}"/>
              </a:ext>
            </a:extLst>
          </p:cNvPr>
          <p:cNvSpPr txBox="1">
            <a:spLocks/>
          </p:cNvSpPr>
          <p:nvPr/>
        </p:nvSpPr>
        <p:spPr>
          <a:xfrm>
            <a:off x="6678312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4074748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4470000" y="2902400"/>
            <a:ext cx="3252000" cy="10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>
                <a:effectLst/>
              </a:rPr>
              <a:t>Teamwork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A03BDB76-9546-4F89-BAB1-05E46EA83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737531" y="2007704"/>
            <a:ext cx="3065348" cy="580553"/>
          </a:xfrm>
        </p:spPr>
        <p:txBody>
          <a:bodyPr/>
          <a:lstStyle/>
          <a:p>
            <a:r>
              <a:rPr lang="en-GB" sz="4000" dirty="0"/>
              <a:t>The problem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C15121E5-930E-4296-9EA0-CDB722C2E0DA}"/>
              </a:ext>
            </a:extLst>
          </p:cNvPr>
          <p:cNvSpPr txBox="1">
            <a:spLocks/>
          </p:cNvSpPr>
          <p:nvPr/>
        </p:nvSpPr>
        <p:spPr>
          <a:xfrm>
            <a:off x="-4174853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heard librarians say they are dissatisfied with the current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It was also inconvenient for us, students.</a:t>
            </a:r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C6121FB8-A400-4C70-A375-A257ECFD28C2}"/>
              </a:ext>
            </a:extLst>
          </p:cNvPr>
          <p:cNvSpPr txBox="1">
            <a:spLocks/>
          </p:cNvSpPr>
          <p:nvPr/>
        </p:nvSpPr>
        <p:spPr>
          <a:xfrm>
            <a:off x="12704447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CB737A99-789F-49B9-B961-892A1709C16D}"/>
              </a:ext>
            </a:extLst>
          </p:cNvPr>
          <p:cNvSpPr txBox="1">
            <a:spLocks/>
          </p:cNvSpPr>
          <p:nvPr/>
        </p:nvSpPr>
        <p:spPr>
          <a:xfrm>
            <a:off x="12267125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1998340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637826" y="298102"/>
            <a:ext cx="262279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Teamwork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7590095" y="1374476"/>
            <a:ext cx="1916557" cy="1737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Applications: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GitHub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Discord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Figma</a:t>
            </a:r>
          </a:p>
        </p:txBody>
      </p:sp>
      <p:pic>
        <p:nvPicPr>
          <p:cNvPr id="1026" name="Picture 2" descr="GitHub Logo, symbol, meaning, history, PNG, brand">
            <a:hlinkClick r:id="rId2"/>
            <a:extLst>
              <a:ext uri="{FF2B5EF4-FFF2-40B4-BE49-F238E27FC236}">
                <a16:creationId xmlns:a16="http://schemas.microsoft.com/office/drawing/2014/main" id="{093EAFF5-AE2C-4552-B99C-2124CFCFCF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383" y="3669032"/>
            <a:ext cx="1813563" cy="102012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iscord Logo PNGs for Free Download">
            <a:hlinkClick r:id="rId4"/>
            <a:extLst>
              <a:ext uri="{FF2B5EF4-FFF2-40B4-BE49-F238E27FC236}">
                <a16:creationId xmlns:a16="http://schemas.microsoft.com/office/drawing/2014/main" id="{F971B81D-D18A-4F4B-83E3-6572C0B46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7635" y="3428998"/>
            <a:ext cx="1398033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Figma Logo PNG image for Free Download">
            <a:hlinkClick r:id="rId6"/>
            <a:extLst>
              <a:ext uri="{FF2B5EF4-FFF2-40B4-BE49-F238E27FC236}">
                <a16:creationId xmlns:a16="http://schemas.microsoft.com/office/drawing/2014/main" id="{E9DDA292-18C4-455A-8EFE-9CC0FACCAA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2745" y="5166448"/>
            <a:ext cx="2066401" cy="56960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F534027E-7418-4E7A-9DD4-8D1973B4EEAE}"/>
              </a:ext>
            </a:extLst>
          </p:cNvPr>
          <p:cNvSpPr txBox="1">
            <a:spLocks/>
          </p:cNvSpPr>
          <p:nvPr/>
        </p:nvSpPr>
        <p:spPr>
          <a:xfrm>
            <a:off x="806639" y="1374476"/>
            <a:ext cx="6297886" cy="1981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Allocation of tasks: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Frontend: Zoltán Tóth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Backend: Soma Zsömbörgi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Desktop Application: Máté Vágvölgyi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Database: Soma Zsömbörgi, Máté Vágvölgyi</a:t>
            </a:r>
          </a:p>
        </p:txBody>
      </p:sp>
      <p:pic>
        <p:nvPicPr>
          <p:cNvPr id="2050" name="Picture 2" descr="Collection of React Logo PNG. | PlusPNG">
            <a:hlinkClick r:id="rId8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6290" y="3429000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10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3633" y="4966321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C# Download png">
            <a:hlinkClick r:id="rId12"/>
            <a:extLst>
              <a:ext uri="{FF2B5EF4-FFF2-40B4-BE49-F238E27FC236}">
                <a16:creationId xmlns:a16="http://schemas.microsoft.com/office/drawing/2014/main" id="{07C42090-C1A5-459D-995E-2C03EB392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3356" y="3530569"/>
            <a:ext cx="1095751" cy="109575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MySQL logo PNG transparent image download, size: 2800x2800px">
            <a:hlinkClick r:id="rId14"/>
            <a:extLst>
              <a:ext uri="{FF2B5EF4-FFF2-40B4-BE49-F238E27FC236}">
                <a16:creationId xmlns:a16="http://schemas.microsoft.com/office/drawing/2014/main" id="{4369A9D7-104D-4B41-A709-26DB49EDA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026" y="4128015"/>
            <a:ext cx="2308860" cy="230886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255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4636702" y="2955699"/>
            <a:ext cx="2918596" cy="946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Base idea</a:t>
            </a:r>
          </a:p>
        </p:txBody>
      </p:sp>
    </p:spTree>
    <p:extLst>
      <p:ext uri="{BB962C8B-B14F-4D97-AF65-F5344CB8AC3E}">
        <p14:creationId xmlns:p14="http://schemas.microsoft.com/office/powerpoint/2010/main" val="33006162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59984" y="59263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Base idea</a:t>
            </a:r>
          </a:p>
        </p:txBody>
      </p:sp>
      <p:pic>
        <p:nvPicPr>
          <p:cNvPr id="2050" name="Picture 2" descr="Collection of React Logo PNG. | PlusPNG">
            <a:hlinkClick r:id="rId2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578" y="3930729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4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27586" y="4112542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F5E86A-3220-407C-A85F-9E0D9A6E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73462" y="2374683"/>
            <a:ext cx="15613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Frontend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36D9D7C-7CF8-409A-92DE-73355EBAB6D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4700512" y="3013573"/>
            <a:ext cx="2907200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Website for members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Register to reserve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Verify email address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5D81324D-A70D-4CE9-97DE-CA137D964899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2367977" y="3013573"/>
            <a:ext cx="3094414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Connection between Frontend and Database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B5E1433-AA7C-4569-952E-5905D9E97FB3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13134534" y="2366058"/>
            <a:ext cx="1561300" cy="537600"/>
          </a:xfrm>
        </p:spPr>
        <p:txBody>
          <a:bodyPr/>
          <a:lstStyle/>
          <a:p>
            <a:r>
              <a:rPr lang="en-GB" dirty="0"/>
              <a:t>Backend</a:t>
            </a:r>
          </a:p>
        </p:txBody>
      </p:sp>
    </p:spTree>
    <p:extLst>
      <p:ext uri="{BB962C8B-B14F-4D97-AF65-F5344CB8AC3E}">
        <p14:creationId xmlns:p14="http://schemas.microsoft.com/office/powerpoint/2010/main" val="29027899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59984" y="59263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Base idea</a:t>
            </a:r>
          </a:p>
        </p:txBody>
      </p:sp>
      <p:pic>
        <p:nvPicPr>
          <p:cNvPr id="2050" name="Picture 2" descr="Collection of React Logo PNG. | PlusPNG">
            <a:hlinkClick r:id="rId2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2506" y="3930729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4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7926" y="4112542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C# Download png">
            <a:hlinkClick r:id="rId6"/>
            <a:extLst>
              <a:ext uri="{FF2B5EF4-FFF2-40B4-BE49-F238E27FC236}">
                <a16:creationId xmlns:a16="http://schemas.microsoft.com/office/drawing/2014/main" id="{07C42090-C1A5-459D-995E-2C03EB392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01424" y="4397353"/>
            <a:ext cx="1095751" cy="109575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F5E86A-3220-407C-A85F-9E0D9A6E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4390" y="2374683"/>
            <a:ext cx="15613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Frontend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36D9D7C-7CF8-409A-92DE-73355EBAB6D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2981440" y="3013573"/>
            <a:ext cx="2907200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Website for members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Register to reserve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Verify email address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5D81324D-A70D-4CE9-97DE-CA137D964899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6348317" y="3013573"/>
            <a:ext cx="3094414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Connection between Frontend and Database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7537D88B-98F6-410C-AE89-FA328834DAD6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2373816" y="3013573"/>
            <a:ext cx="3350968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Software for admins and librarians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Application for managing a physical library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B5E1433-AA7C-4569-952E-5905D9E97FB3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7114874" y="2366058"/>
            <a:ext cx="1561300" cy="537600"/>
          </a:xfrm>
        </p:spPr>
        <p:txBody>
          <a:bodyPr/>
          <a:lstStyle/>
          <a:p>
            <a:r>
              <a:rPr lang="en-GB" dirty="0"/>
              <a:t>Backend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EC6FC0DA-E229-44CD-984C-7AC0D377C4BA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12963549" y="2374683"/>
            <a:ext cx="21715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30427423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59984" y="59263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Base idea</a:t>
            </a:r>
          </a:p>
        </p:txBody>
      </p:sp>
      <p:pic>
        <p:nvPicPr>
          <p:cNvPr id="2050" name="Picture 2" descr="Collection of React Logo PNG. | PlusPNG">
            <a:hlinkClick r:id="rId2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966" y="3930729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4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8386" y="4112542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C# Download png">
            <a:hlinkClick r:id="rId6"/>
            <a:extLst>
              <a:ext uri="{FF2B5EF4-FFF2-40B4-BE49-F238E27FC236}">
                <a16:creationId xmlns:a16="http://schemas.microsoft.com/office/drawing/2014/main" id="{07C42090-C1A5-459D-995E-2C03EB392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8624" y="4397353"/>
            <a:ext cx="1095751" cy="109575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F5E86A-3220-407C-A85F-9E0D9A6E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54850" y="2374683"/>
            <a:ext cx="15613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Frontend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36D9D7C-7CF8-409A-92DE-73355EBAB6D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1181900" y="3013573"/>
            <a:ext cx="2907200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Website for members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Register to reserve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Verify email address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5D81324D-A70D-4CE9-97DE-CA137D964899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4548777" y="3013573"/>
            <a:ext cx="3094414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Connection between Frontend and Database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7537D88B-98F6-410C-AE89-FA328834DAD6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7881016" y="3013573"/>
            <a:ext cx="3350968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Software for admins and librarians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Application for managing a physical library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B5E1433-AA7C-4569-952E-5905D9E97FB3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5315334" y="2366058"/>
            <a:ext cx="1561300" cy="537600"/>
          </a:xfrm>
        </p:spPr>
        <p:txBody>
          <a:bodyPr/>
          <a:lstStyle/>
          <a:p>
            <a:r>
              <a:rPr lang="en-GB" dirty="0"/>
              <a:t>Backend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EC6FC0DA-E229-44CD-984C-7AC0D377C4BA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8470749" y="2374683"/>
            <a:ext cx="21715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1161576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4603906" y="2902400"/>
            <a:ext cx="2984189" cy="10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Database</a:t>
            </a:r>
            <a:endParaRPr lang="en-GB" sz="5400" dirty="0">
              <a:effectLst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D5FC882-A614-42D7-AD43-527B0950A6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8" y="7020000"/>
            <a:ext cx="10374725" cy="685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713689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83200" y="186230"/>
            <a:ext cx="2180082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Database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4126003" y="1243968"/>
            <a:ext cx="3939993" cy="2117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Tables: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11 tables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2 bridging 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1 long term storage 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Cascade on deletion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EFCDBD05-BD20-48A8-9BCB-0B4F4587118F}"/>
              </a:ext>
            </a:extLst>
          </p:cNvPr>
          <p:cNvSpPr txBox="1">
            <a:spLocks/>
          </p:cNvSpPr>
          <p:nvPr/>
        </p:nvSpPr>
        <p:spPr>
          <a:xfrm>
            <a:off x="4126002" y="3191449"/>
            <a:ext cx="3939993" cy="2117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Triggers: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Delete books if bridging tables are deleted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Copy and update borrowings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10347B7-3508-42EA-9B2B-7B3AA5630813}"/>
              </a:ext>
            </a:extLst>
          </p:cNvPr>
          <p:cNvSpPr txBox="1">
            <a:spLocks/>
          </p:cNvSpPr>
          <p:nvPr/>
        </p:nvSpPr>
        <p:spPr>
          <a:xfrm>
            <a:off x="4126001" y="5122131"/>
            <a:ext cx="4011760" cy="987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Events: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Delete expired reservations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3D6887CA-E829-4E38-812F-2B09B638D354}"/>
              </a:ext>
            </a:extLst>
          </p:cNvPr>
          <p:cNvSpPr txBox="1">
            <a:spLocks/>
          </p:cNvSpPr>
          <p:nvPr/>
        </p:nvSpPr>
        <p:spPr>
          <a:xfrm>
            <a:off x="2266213" y="186230"/>
            <a:ext cx="2081852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 - MySQL</a:t>
            </a:r>
          </a:p>
        </p:txBody>
      </p:sp>
    </p:spTree>
    <p:extLst>
      <p:ext uri="{BB962C8B-B14F-4D97-AF65-F5344CB8AC3E}">
        <p14:creationId xmlns:p14="http://schemas.microsoft.com/office/powerpoint/2010/main" val="20285856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5021610" y="3047200"/>
            <a:ext cx="21487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</p:spTree>
    <p:extLst>
      <p:ext uri="{BB962C8B-B14F-4D97-AF65-F5344CB8AC3E}">
        <p14:creationId xmlns:p14="http://schemas.microsoft.com/office/powerpoint/2010/main" val="628790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6412121" y="2732875"/>
            <a:ext cx="3368217" cy="244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Register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Finalize registration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Verification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Search in available books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User’s reservations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User’s borrowings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14" name="Kép 1">
            <a:extLst>
              <a:ext uri="{FF2B5EF4-FFF2-40B4-BE49-F238E27FC236}">
                <a16:creationId xmlns:a16="http://schemas.microsoft.com/office/drawing/2014/main" id="{83A10EF5-9E1F-47B3-B669-306CD552AE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501" y="1651594"/>
            <a:ext cx="3368217" cy="470634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1662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8" name="Kép 1">
            <a:extLst>
              <a:ext uri="{FF2B5EF4-FFF2-40B4-BE49-F238E27FC236}">
                <a16:creationId xmlns:a16="http://schemas.microsoft.com/office/drawing/2014/main" id="{19D3A00C-7AD0-414F-99BE-CF084783E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501" y="1651594"/>
            <a:ext cx="3368217" cy="470634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249FBFC3-ED50-424F-91A9-B288E7A5B7AC}"/>
              </a:ext>
            </a:extLst>
          </p:cNvPr>
          <p:cNvSpPr txBox="1">
            <a:spLocks/>
          </p:cNvSpPr>
          <p:nvPr/>
        </p:nvSpPr>
        <p:spPr>
          <a:xfrm>
            <a:off x="6412121" y="3106803"/>
            <a:ext cx="3916941" cy="179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JWT </a:t>
            </a:r>
            <a:r>
              <a:rPr lang="en-GB" dirty="0" err="1"/>
              <a:t>Webtoken</a:t>
            </a:r>
            <a:r>
              <a:rPr lang="en-GB" dirty="0"/>
              <a:t> for authorization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Store token in session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Forgot password option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Get method with </a:t>
            </a:r>
            <a:r>
              <a:rPr lang="en-GB" dirty="0" err="1"/>
              <a:t>Axios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75781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1455543" y="2985699"/>
            <a:ext cx="4762133" cy="1849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Post method using </a:t>
            </a:r>
            <a:r>
              <a:rPr lang="en-GB" dirty="0" err="1"/>
              <a:t>Axios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Finalize registration option</a:t>
            </a:r>
          </a:p>
          <a:p>
            <a:pPr marL="809625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If a librarian added the user, they can finalize their registration</a:t>
            </a:r>
          </a:p>
          <a:p>
            <a:pPr marL="0" indent="-438150">
              <a:buFont typeface="Arial" panose="020B0604020202020204" pitchFamily="34" charset="0"/>
              <a:buChar char="•"/>
            </a:pPr>
            <a:r>
              <a:rPr lang="en-GB" dirty="0"/>
              <a:t>Verification</a:t>
            </a:r>
            <a:endParaRPr lang="en-GB" sz="2100" dirty="0">
              <a:latin typeface="Oxanium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8" name="Kép 3">
            <a:extLst>
              <a:ext uri="{FF2B5EF4-FFF2-40B4-BE49-F238E27FC236}">
                <a16:creationId xmlns:a16="http://schemas.microsoft.com/office/drawing/2014/main" id="{595AD304-776D-4B06-8B58-60FB7F1BE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0425" y="1566659"/>
            <a:ext cx="3526491" cy="46874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292437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11" name="Kép 9">
            <a:extLst>
              <a:ext uri="{FF2B5EF4-FFF2-40B4-BE49-F238E27FC236}">
                <a16:creationId xmlns:a16="http://schemas.microsoft.com/office/drawing/2014/main" id="{C944FE48-E7C9-415C-85CC-D3133968B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526" y="1479271"/>
            <a:ext cx="10770948" cy="523231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15292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11" name="Kép 9">
            <a:extLst>
              <a:ext uri="{FF2B5EF4-FFF2-40B4-BE49-F238E27FC236}">
                <a16:creationId xmlns:a16="http://schemas.microsoft.com/office/drawing/2014/main" id="{C944FE48-E7C9-415C-85CC-D3133968B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729" y="2275250"/>
            <a:ext cx="6226142" cy="302453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99B58EB0-A9CB-41AF-9755-775A2FDE622A}"/>
              </a:ext>
            </a:extLst>
          </p:cNvPr>
          <p:cNvSpPr txBox="1">
            <a:spLocks/>
          </p:cNvSpPr>
          <p:nvPr/>
        </p:nvSpPr>
        <p:spPr>
          <a:xfrm>
            <a:off x="1404197" y="2556491"/>
            <a:ext cx="3705306" cy="274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Live 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Filter books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Author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Publisher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Publication year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Category</a:t>
            </a:r>
          </a:p>
          <a:p>
            <a:pPr marL="354013" indent="-349250">
              <a:buFont typeface="Arial" panose="020B0604020202020204" pitchFamily="34" charset="0"/>
              <a:buChar char="•"/>
            </a:pPr>
            <a:r>
              <a:rPr lang="en-GB" dirty="0"/>
              <a:t>Reserve books if logged in</a:t>
            </a:r>
          </a:p>
        </p:txBody>
      </p:sp>
    </p:spTree>
    <p:extLst>
      <p:ext uri="{BB962C8B-B14F-4D97-AF65-F5344CB8AC3E}">
        <p14:creationId xmlns:p14="http://schemas.microsoft.com/office/powerpoint/2010/main" val="19709821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9B58EB0-A9CB-41AF-9755-775A2FDE622A}"/>
              </a:ext>
            </a:extLst>
          </p:cNvPr>
          <p:cNvSpPr txBox="1">
            <a:spLocks/>
          </p:cNvSpPr>
          <p:nvPr/>
        </p:nvSpPr>
        <p:spPr>
          <a:xfrm>
            <a:off x="1978155" y="2247587"/>
            <a:ext cx="2595243" cy="2762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React Router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useState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useEffect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useLocation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useNavigate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createContext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useRef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useMemo</a:t>
            </a:r>
            <a:endParaRPr lang="en-GB" dirty="0"/>
          </a:p>
        </p:txBody>
      </p:sp>
      <p:pic>
        <p:nvPicPr>
          <p:cNvPr id="7" name="Kép 5">
            <a:extLst>
              <a:ext uri="{FF2B5EF4-FFF2-40B4-BE49-F238E27FC236}">
                <a16:creationId xmlns:a16="http://schemas.microsoft.com/office/drawing/2014/main" id="{BC3D199C-E760-4169-AD6C-85AE4C8A42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3" y="1356967"/>
            <a:ext cx="6272007" cy="45436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10780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8" name="Kép 6">
            <a:extLst>
              <a:ext uri="{FF2B5EF4-FFF2-40B4-BE49-F238E27FC236}">
                <a16:creationId xmlns:a16="http://schemas.microsoft.com/office/drawing/2014/main" id="{4B1512FD-6FB1-430E-B48F-F32D74D56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8800" y="3429000"/>
            <a:ext cx="3409950" cy="3905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69330DA2-49A9-42FD-9056-366A3028D6C5}"/>
              </a:ext>
            </a:extLst>
          </p:cNvPr>
          <p:cNvSpPr txBox="1">
            <a:spLocks/>
          </p:cNvSpPr>
          <p:nvPr/>
        </p:nvSpPr>
        <p:spPr>
          <a:xfrm>
            <a:off x="5284153" y="2802844"/>
            <a:ext cx="2019243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Auth Provider</a:t>
            </a:r>
          </a:p>
        </p:txBody>
      </p:sp>
      <p:pic>
        <p:nvPicPr>
          <p:cNvPr id="15" name="Kép 2">
            <a:extLst>
              <a:ext uri="{FF2B5EF4-FFF2-40B4-BE49-F238E27FC236}">
                <a16:creationId xmlns:a16="http://schemas.microsoft.com/office/drawing/2014/main" id="{46700101-6819-4E17-AFC2-C1ABDA6F8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1600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5C9A850D-2500-43CD-917F-789FD4439B80}"/>
              </a:ext>
            </a:extLst>
          </p:cNvPr>
          <p:cNvSpPr txBox="1">
            <a:spLocks/>
          </p:cNvSpPr>
          <p:nvPr/>
        </p:nvSpPr>
        <p:spPr>
          <a:xfrm>
            <a:off x="13742583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</p:spTree>
    <p:extLst>
      <p:ext uri="{BB962C8B-B14F-4D97-AF65-F5344CB8AC3E}">
        <p14:creationId xmlns:p14="http://schemas.microsoft.com/office/powerpoint/2010/main" val="25808060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5" name="Kép 2">
            <a:extLst>
              <a:ext uri="{FF2B5EF4-FFF2-40B4-BE49-F238E27FC236}">
                <a16:creationId xmlns:a16="http://schemas.microsoft.com/office/drawing/2014/main" id="{244536F9-CC38-4B8F-987D-CE28C5009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932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Kép 6">
            <a:extLst>
              <a:ext uri="{FF2B5EF4-FFF2-40B4-BE49-F238E27FC236}">
                <a16:creationId xmlns:a16="http://schemas.microsoft.com/office/drawing/2014/main" id="{FECCAA8D-8B09-46D0-9305-B6207DD07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4483" y="3429000"/>
            <a:ext cx="3409950" cy="3905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2A7868A8-81A3-4C34-9EAF-508E78FC057F}"/>
              </a:ext>
            </a:extLst>
          </p:cNvPr>
          <p:cNvSpPr txBox="1">
            <a:spLocks/>
          </p:cNvSpPr>
          <p:nvPr/>
        </p:nvSpPr>
        <p:spPr>
          <a:xfrm>
            <a:off x="1989836" y="2802844"/>
            <a:ext cx="2019243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Auth Provider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26091FE8-6FD6-44C0-B0E6-105B789C01DF}"/>
              </a:ext>
            </a:extLst>
          </p:cNvPr>
          <p:cNvSpPr txBox="1">
            <a:spLocks/>
          </p:cNvSpPr>
          <p:nvPr/>
        </p:nvSpPr>
        <p:spPr>
          <a:xfrm>
            <a:off x="7323915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  <p:pic>
        <p:nvPicPr>
          <p:cNvPr id="17" name="Kép 8">
            <a:extLst>
              <a:ext uri="{FF2B5EF4-FFF2-40B4-BE49-F238E27FC236}">
                <a16:creationId xmlns:a16="http://schemas.microsoft.com/office/drawing/2014/main" id="{D4932D02-D0B9-486E-9E6E-DCD822E2B4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79558" y="2976447"/>
            <a:ext cx="3162300" cy="1143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8" name="Kép 7">
            <a:extLst>
              <a:ext uri="{FF2B5EF4-FFF2-40B4-BE49-F238E27FC236}">
                <a16:creationId xmlns:a16="http://schemas.microsoft.com/office/drawing/2014/main" id="{9EFEB614-D693-4E86-9EDD-3DA27A5583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65220" y="4355046"/>
            <a:ext cx="3990975" cy="1133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9" name="Subtitle 2">
            <a:extLst>
              <a:ext uri="{FF2B5EF4-FFF2-40B4-BE49-F238E27FC236}">
                <a16:creationId xmlns:a16="http://schemas.microsoft.com/office/drawing/2014/main" id="{6EB1CD5E-900F-4174-ADDA-7DC3D585E73B}"/>
              </a:ext>
            </a:extLst>
          </p:cNvPr>
          <p:cNvSpPr txBox="1">
            <a:spLocks/>
          </p:cNvSpPr>
          <p:nvPr/>
        </p:nvSpPr>
        <p:spPr>
          <a:xfrm>
            <a:off x="13119682" y="1968601"/>
            <a:ext cx="2482050" cy="864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/>
              <a:t>Managing user activities</a:t>
            </a:r>
          </a:p>
        </p:txBody>
      </p:sp>
    </p:spTree>
    <p:extLst>
      <p:ext uri="{BB962C8B-B14F-4D97-AF65-F5344CB8AC3E}">
        <p14:creationId xmlns:p14="http://schemas.microsoft.com/office/powerpoint/2010/main" val="18859315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ADF3E6E6-84E3-401C-86DF-3792203CB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8805" y="2976447"/>
            <a:ext cx="3162300" cy="1143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Kép 7">
            <a:extLst>
              <a:ext uri="{FF2B5EF4-FFF2-40B4-BE49-F238E27FC236}">
                <a16:creationId xmlns:a16="http://schemas.microsoft.com/office/drawing/2014/main" id="{3614C337-6270-4AAA-A5BD-95CB157D1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4467" y="4355046"/>
            <a:ext cx="3990975" cy="1133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2" name="Kép 2">
            <a:extLst>
              <a:ext uri="{FF2B5EF4-FFF2-40B4-BE49-F238E27FC236}">
                <a16:creationId xmlns:a16="http://schemas.microsoft.com/office/drawing/2014/main" id="{80C1A122-2B4C-4E6F-AA04-C37B2BF49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58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Kép 6">
            <a:extLst>
              <a:ext uri="{FF2B5EF4-FFF2-40B4-BE49-F238E27FC236}">
                <a16:creationId xmlns:a16="http://schemas.microsoft.com/office/drawing/2014/main" id="{5F5CB766-4FC4-470A-B8BC-AF547F3754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592800" y="3429000"/>
            <a:ext cx="3409950" cy="3905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29332101-14D3-4CCB-810B-7EA51B63C534}"/>
              </a:ext>
            </a:extLst>
          </p:cNvPr>
          <p:cNvSpPr txBox="1">
            <a:spLocks/>
          </p:cNvSpPr>
          <p:nvPr/>
        </p:nvSpPr>
        <p:spPr>
          <a:xfrm>
            <a:off x="-2897447" y="2802844"/>
            <a:ext cx="2019243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Auth Provider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66C12526-386A-4E6C-8CA8-112358DC6864}"/>
              </a:ext>
            </a:extLst>
          </p:cNvPr>
          <p:cNvSpPr txBox="1">
            <a:spLocks/>
          </p:cNvSpPr>
          <p:nvPr/>
        </p:nvSpPr>
        <p:spPr>
          <a:xfrm>
            <a:off x="2337541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592868A-A71D-48A0-81B2-2E5732CDABDF}"/>
              </a:ext>
            </a:extLst>
          </p:cNvPr>
          <p:cNvSpPr txBox="1">
            <a:spLocks/>
          </p:cNvSpPr>
          <p:nvPr/>
        </p:nvSpPr>
        <p:spPr>
          <a:xfrm>
            <a:off x="7978929" y="1968601"/>
            <a:ext cx="2482050" cy="864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/>
              <a:t>Managing user activities</a:t>
            </a:r>
          </a:p>
        </p:txBody>
      </p:sp>
      <p:sp>
        <p:nvSpPr>
          <p:cNvPr id="17" name="Title 3">
            <a:extLst>
              <a:ext uri="{FF2B5EF4-FFF2-40B4-BE49-F238E27FC236}">
                <a16:creationId xmlns:a16="http://schemas.microsoft.com/office/drawing/2014/main" id="{A5D9EDDA-723E-4365-88EA-11C5EB0D501F}"/>
              </a:ext>
            </a:extLst>
          </p:cNvPr>
          <p:cNvSpPr txBox="1">
            <a:spLocks/>
          </p:cNvSpPr>
          <p:nvPr/>
        </p:nvSpPr>
        <p:spPr>
          <a:xfrm>
            <a:off x="12343910" y="2938463"/>
            <a:ext cx="2750940" cy="981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Backend</a:t>
            </a:r>
          </a:p>
        </p:txBody>
      </p:sp>
    </p:spTree>
    <p:extLst>
      <p:ext uri="{BB962C8B-B14F-4D97-AF65-F5344CB8AC3E}">
        <p14:creationId xmlns:p14="http://schemas.microsoft.com/office/powerpoint/2010/main" val="13617689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4720530" y="2938463"/>
            <a:ext cx="2750940" cy="981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Backend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D6A5676-F754-4161-B55D-E3104731EA69}"/>
              </a:ext>
            </a:extLst>
          </p:cNvPr>
          <p:cNvSpPr txBox="1">
            <a:spLocks/>
          </p:cNvSpPr>
          <p:nvPr/>
        </p:nvSpPr>
        <p:spPr>
          <a:xfrm>
            <a:off x="1438642" y="7063123"/>
            <a:ext cx="4657358" cy="3787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Connect database with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Manages data from website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CRUD operations: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GET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POST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PUT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Responses: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JSON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Image</a:t>
            </a: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90575453-4F4F-4672-B982-6E21A8A3D92E}"/>
              </a:ext>
            </a:extLst>
          </p:cNvPr>
          <p:cNvSpPr txBox="1">
            <a:spLocks/>
          </p:cNvSpPr>
          <p:nvPr/>
        </p:nvSpPr>
        <p:spPr>
          <a:xfrm>
            <a:off x="-98976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7" name="Kép 8">
            <a:extLst>
              <a:ext uri="{FF2B5EF4-FFF2-40B4-BE49-F238E27FC236}">
                <a16:creationId xmlns:a16="http://schemas.microsoft.com/office/drawing/2014/main" id="{A3EC1059-1DD6-43BA-8C53-E29245FF2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30042" y="2976447"/>
            <a:ext cx="3162300" cy="1143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Kép 7">
            <a:extLst>
              <a:ext uri="{FF2B5EF4-FFF2-40B4-BE49-F238E27FC236}">
                <a16:creationId xmlns:a16="http://schemas.microsoft.com/office/drawing/2014/main" id="{C185F460-AFB0-44FE-84E8-732781947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44380" y="4355046"/>
            <a:ext cx="3990975" cy="1133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Kép 2">
            <a:extLst>
              <a:ext uri="{FF2B5EF4-FFF2-40B4-BE49-F238E27FC236}">
                <a16:creationId xmlns:a16="http://schemas.microsoft.com/office/drawing/2014/main" id="{895FF95E-B360-4453-B4DE-9F05A39AD6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897600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4E131441-52F1-4D8E-AB66-6F3FC69089E7}"/>
              </a:ext>
            </a:extLst>
          </p:cNvPr>
          <p:cNvSpPr txBox="1">
            <a:spLocks/>
          </p:cNvSpPr>
          <p:nvPr/>
        </p:nvSpPr>
        <p:spPr>
          <a:xfrm>
            <a:off x="-8536617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B7E96E4-9BF4-4318-9E2B-45D9F000CFFD}"/>
              </a:ext>
            </a:extLst>
          </p:cNvPr>
          <p:cNvSpPr txBox="1">
            <a:spLocks/>
          </p:cNvSpPr>
          <p:nvPr/>
        </p:nvSpPr>
        <p:spPr>
          <a:xfrm>
            <a:off x="-3389918" y="1968601"/>
            <a:ext cx="2482050" cy="864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/>
              <a:t>Managing user activities</a:t>
            </a:r>
          </a:p>
        </p:txBody>
      </p:sp>
    </p:spTree>
    <p:extLst>
      <p:ext uri="{BB962C8B-B14F-4D97-AF65-F5344CB8AC3E}">
        <p14:creationId xmlns:p14="http://schemas.microsoft.com/office/powerpoint/2010/main" val="39040411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1438642" y="1535159"/>
            <a:ext cx="4657358" cy="3787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Connect database with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Manages data from website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CRUD operations: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GET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POST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PUT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Responses: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JSON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Image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19965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Backend</a:t>
            </a:r>
          </a:p>
        </p:txBody>
      </p:sp>
      <p:pic>
        <p:nvPicPr>
          <p:cNvPr id="9" name="Kép2">
            <a:extLst>
              <a:ext uri="{FF2B5EF4-FFF2-40B4-BE49-F238E27FC236}">
                <a16:creationId xmlns:a16="http://schemas.microsoft.com/office/drawing/2014/main" id="{2A03F608-918A-41AD-8FF5-4DB9BCF3A98E}"/>
              </a:ext>
            </a:extLst>
          </p:cNvPr>
          <p:cNvPicPr/>
          <p:nvPr/>
        </p:nvPicPr>
        <p:blipFill rotWithShape="1">
          <a:blip r:embed="rId2">
            <a:lum/>
            <a:alphaModFix/>
          </a:blip>
          <a:srcRect r="12238" b="72276"/>
          <a:stretch/>
        </p:blipFill>
        <p:spPr>
          <a:xfrm>
            <a:off x="12435046" y="2552258"/>
            <a:ext cx="9867801" cy="17534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35728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2">
            <a:extLst>
              <a:ext uri="{FF2B5EF4-FFF2-40B4-BE49-F238E27FC236}">
                <a16:creationId xmlns:a16="http://schemas.microsoft.com/office/drawing/2014/main" id="{FD7CAE65-697C-4CC4-BE93-92A9095487AB}"/>
              </a:ext>
            </a:extLst>
          </p:cNvPr>
          <p:cNvPicPr/>
          <p:nvPr/>
        </p:nvPicPr>
        <p:blipFill rotWithShape="1">
          <a:blip r:embed="rId2">
            <a:lum/>
            <a:alphaModFix/>
          </a:blip>
          <a:srcRect r="12238" b="72276"/>
          <a:stretch/>
        </p:blipFill>
        <p:spPr>
          <a:xfrm>
            <a:off x="1162100" y="2552258"/>
            <a:ext cx="9867801" cy="17534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5974112A-AB37-4560-9C88-E3AC4FEA8A6A}"/>
              </a:ext>
            </a:extLst>
          </p:cNvPr>
          <p:cNvSpPr txBox="1">
            <a:spLocks/>
          </p:cNvSpPr>
          <p:nvPr/>
        </p:nvSpPr>
        <p:spPr>
          <a:xfrm>
            <a:off x="-4673923" y="1535159"/>
            <a:ext cx="4657358" cy="3787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Connect database with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Manages data from website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CRUD operations: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GET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POST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PUT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Responses: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JSON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Image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92ED0E45-53A9-42C8-8F8A-040100DF27B1}"/>
              </a:ext>
            </a:extLst>
          </p:cNvPr>
          <p:cNvSpPr txBox="1">
            <a:spLocks/>
          </p:cNvSpPr>
          <p:nvPr/>
        </p:nvSpPr>
        <p:spPr>
          <a:xfrm>
            <a:off x="596108" y="347963"/>
            <a:ext cx="40482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Endpoints</a:t>
            </a:r>
          </a:p>
        </p:txBody>
      </p:sp>
    </p:spTree>
    <p:extLst>
      <p:ext uri="{BB962C8B-B14F-4D97-AF65-F5344CB8AC3E}">
        <p14:creationId xmlns:p14="http://schemas.microsoft.com/office/powerpoint/2010/main" val="1830841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96108" y="347963"/>
            <a:ext cx="40482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1203247" y="2454903"/>
            <a:ext cx="3441160" cy="19481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Composer</a:t>
            </a:r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JWT</a:t>
            </a:r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 err="1"/>
              <a:t>Dotenv</a:t>
            </a:r>
            <a:endParaRPr lang="en-GB" dirty="0"/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 err="1"/>
              <a:t>PHPMailer</a:t>
            </a:r>
            <a:endParaRPr lang="en-GB" dirty="0"/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Autoloader</a:t>
            </a:r>
          </a:p>
        </p:txBody>
      </p:sp>
      <p:pic>
        <p:nvPicPr>
          <p:cNvPr id="8" name="Kép1">
            <a:extLst>
              <a:ext uri="{FF2B5EF4-FFF2-40B4-BE49-F238E27FC236}">
                <a16:creationId xmlns:a16="http://schemas.microsoft.com/office/drawing/2014/main" id="{AF3C1AAB-93C5-4992-A147-10B6A6188F2B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231764" y="226712"/>
            <a:ext cx="2083435" cy="63290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Kép12">
            <a:extLst>
              <a:ext uri="{FF2B5EF4-FFF2-40B4-BE49-F238E27FC236}">
                <a16:creationId xmlns:a16="http://schemas.microsoft.com/office/drawing/2014/main" id="{0AC9C9E2-48AA-4166-9C44-0FBE436A8453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902556" y="1930392"/>
            <a:ext cx="3381804" cy="286258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250558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761211" y="3047200"/>
            <a:ext cx="158218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MVC – </a:t>
            </a:r>
            <a:endParaRPr lang="en-GB" sz="4000" dirty="0">
              <a:effectLst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90C483B8-71E7-41E3-8303-B70ADAB5BC50}"/>
              </a:ext>
            </a:extLst>
          </p:cNvPr>
          <p:cNvSpPr txBox="1">
            <a:spLocks/>
          </p:cNvSpPr>
          <p:nvPr/>
        </p:nvSpPr>
        <p:spPr>
          <a:xfrm>
            <a:off x="4247111" y="3047200"/>
            <a:ext cx="157457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Model</a:t>
            </a:r>
            <a:endParaRPr lang="en-GB" sz="4000" dirty="0">
              <a:effectLst/>
            </a:endParaRP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DBBFD1D1-0C53-402E-AC6E-343B59484C69}"/>
              </a:ext>
            </a:extLst>
          </p:cNvPr>
          <p:cNvSpPr txBox="1">
            <a:spLocks/>
          </p:cNvSpPr>
          <p:nvPr/>
        </p:nvSpPr>
        <p:spPr>
          <a:xfrm>
            <a:off x="5603471" y="3047200"/>
            <a:ext cx="371578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-View-Controller</a:t>
            </a:r>
            <a:endParaRPr lang="en-GB" sz="4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22312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99901" y="269562"/>
            <a:ext cx="156417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Model</a:t>
            </a:r>
            <a:endParaRPr lang="en-GB" sz="4000" dirty="0">
              <a:effectLst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FBACADD-105E-4067-A633-3DCC5F9C0673}"/>
              </a:ext>
            </a:extLst>
          </p:cNvPr>
          <p:cNvSpPr txBox="1">
            <a:spLocks/>
          </p:cNvSpPr>
          <p:nvPr/>
        </p:nvSpPr>
        <p:spPr>
          <a:xfrm>
            <a:off x="1300972" y="1903162"/>
            <a:ext cx="3873008" cy="3214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MySQL queries in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Select, Insert, Update, 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Models inherit from tables:</a:t>
            </a:r>
          </a:p>
          <a:p>
            <a:pPr marL="898525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Select</a:t>
            </a:r>
          </a:p>
          <a:p>
            <a:pPr marL="898525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Join</a:t>
            </a:r>
          </a:p>
          <a:p>
            <a:pPr marL="898525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Execute</a:t>
            </a:r>
          </a:p>
        </p:txBody>
      </p:sp>
      <p:pic>
        <p:nvPicPr>
          <p:cNvPr id="10" name="Kép6">
            <a:extLst>
              <a:ext uri="{FF2B5EF4-FFF2-40B4-BE49-F238E27FC236}">
                <a16:creationId xmlns:a16="http://schemas.microsoft.com/office/drawing/2014/main" id="{FA317F14-1156-41D1-A3FF-EC30B415622D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975349" y="1033162"/>
            <a:ext cx="3959919" cy="247745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1" name="Kép4">
            <a:extLst>
              <a:ext uri="{FF2B5EF4-FFF2-40B4-BE49-F238E27FC236}">
                <a16:creationId xmlns:a16="http://schemas.microsoft.com/office/drawing/2014/main" id="{F5F37F3C-1DEA-4FF6-9E1F-3448572237BF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824372" y="3935095"/>
            <a:ext cx="2261871" cy="218429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3" name="Title 3">
            <a:extLst>
              <a:ext uri="{FF2B5EF4-FFF2-40B4-BE49-F238E27FC236}">
                <a16:creationId xmlns:a16="http://schemas.microsoft.com/office/drawing/2014/main" id="{3D423F72-51C5-4F6D-BD50-9781990828CF}"/>
              </a:ext>
            </a:extLst>
          </p:cNvPr>
          <p:cNvSpPr txBox="1">
            <a:spLocks/>
          </p:cNvSpPr>
          <p:nvPr/>
        </p:nvSpPr>
        <p:spPr>
          <a:xfrm>
            <a:off x="1991590" y="269562"/>
            <a:ext cx="34497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s</a:t>
            </a:r>
            <a:endParaRPr lang="en-GB" sz="4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78525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99901" y="269562"/>
            <a:ext cx="4238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Views - Responses</a:t>
            </a:r>
            <a:endParaRPr lang="en-GB" sz="4000" dirty="0">
              <a:effectLst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FBACADD-105E-4067-A633-3DCC5F9C0673}"/>
              </a:ext>
            </a:extLst>
          </p:cNvPr>
          <p:cNvSpPr txBox="1">
            <a:spLocks/>
          </p:cNvSpPr>
          <p:nvPr/>
        </p:nvSpPr>
        <p:spPr>
          <a:xfrm>
            <a:off x="1704816" y="1141162"/>
            <a:ext cx="4391184" cy="2287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Success: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status code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JSON as string</a:t>
            </a:r>
          </a:p>
        </p:txBody>
      </p:sp>
      <p:pic>
        <p:nvPicPr>
          <p:cNvPr id="21" name="Kép5">
            <a:extLst>
              <a:ext uri="{FF2B5EF4-FFF2-40B4-BE49-F238E27FC236}">
                <a16:creationId xmlns:a16="http://schemas.microsoft.com/office/drawing/2014/main" id="{C350C6CE-1B98-4DEE-BED0-D989A1A30945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704816" y="3507312"/>
            <a:ext cx="8782368" cy="322150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2" name="Subtitle 2">
            <a:extLst>
              <a:ext uri="{FF2B5EF4-FFF2-40B4-BE49-F238E27FC236}">
                <a16:creationId xmlns:a16="http://schemas.microsoft.com/office/drawing/2014/main" id="{D773E337-7AE0-4F42-B612-F35A6AAAF7BD}"/>
              </a:ext>
            </a:extLst>
          </p:cNvPr>
          <p:cNvSpPr txBox="1">
            <a:spLocks/>
          </p:cNvSpPr>
          <p:nvPr/>
        </p:nvSpPr>
        <p:spPr>
          <a:xfrm>
            <a:off x="6096000" y="1141162"/>
            <a:ext cx="4391184" cy="2287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Error: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Messages stored in txt file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status code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error message from txt file</a:t>
            </a:r>
          </a:p>
        </p:txBody>
      </p:sp>
    </p:spTree>
    <p:extLst>
      <p:ext uri="{BB962C8B-B14F-4D97-AF65-F5344CB8AC3E}">
        <p14:creationId xmlns:p14="http://schemas.microsoft.com/office/powerpoint/2010/main" val="4287287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497281" y="406722"/>
            <a:ext cx="261573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Controllers</a:t>
            </a:r>
            <a:endParaRPr lang="en-GB" sz="4000" dirty="0">
              <a:effectLst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FBACADD-105E-4067-A633-3DCC5F9C0673}"/>
              </a:ext>
            </a:extLst>
          </p:cNvPr>
          <p:cNvSpPr txBox="1">
            <a:spLocks/>
          </p:cNvSpPr>
          <p:nvPr/>
        </p:nvSpPr>
        <p:spPr>
          <a:xfrm>
            <a:off x="721645" y="1716035"/>
            <a:ext cx="3873008" cy="2188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Handle request body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Parameters as associative arrays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Verify values by controllers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 functions themselves are in separate classes</a:t>
            </a:r>
            <a:endParaRPr lang="en-GB" dirty="0">
              <a:latin typeface="Oxanium"/>
            </a:endParaRPr>
          </a:p>
        </p:txBody>
      </p:sp>
      <p:pic>
        <p:nvPicPr>
          <p:cNvPr id="8" name="Kép3">
            <a:extLst>
              <a:ext uri="{FF2B5EF4-FFF2-40B4-BE49-F238E27FC236}">
                <a16:creationId xmlns:a16="http://schemas.microsoft.com/office/drawing/2014/main" id="{3A4EE347-F7E6-4C95-890B-617ECBA5648C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899199" y="3975177"/>
            <a:ext cx="3517900" cy="221379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Kép9">
            <a:extLst>
              <a:ext uri="{FF2B5EF4-FFF2-40B4-BE49-F238E27FC236}">
                <a16:creationId xmlns:a16="http://schemas.microsoft.com/office/drawing/2014/main" id="{265F5A35-683B-4FB6-86C6-2A096684BD80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8644709" y="2203064"/>
            <a:ext cx="2836004" cy="3895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Kép10">
            <a:extLst>
              <a:ext uri="{FF2B5EF4-FFF2-40B4-BE49-F238E27FC236}">
                <a16:creationId xmlns:a16="http://schemas.microsoft.com/office/drawing/2014/main" id="{1B0848FF-1779-49E7-97E7-7D3CC063CF3D}"/>
              </a:ext>
            </a:extLst>
          </p:cNvPr>
          <p:cNvPicPr/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157710" y="2771892"/>
            <a:ext cx="3833331" cy="173849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Kép9 másolat 1">
            <a:extLst>
              <a:ext uri="{FF2B5EF4-FFF2-40B4-BE49-F238E27FC236}">
                <a16:creationId xmlns:a16="http://schemas.microsoft.com/office/drawing/2014/main" id="{829BA3BF-D183-4467-9B8C-04C5D922B3E7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8754841" y="4688726"/>
            <a:ext cx="2836005" cy="3895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7" name="Kép11">
            <a:extLst>
              <a:ext uri="{FF2B5EF4-FFF2-40B4-BE49-F238E27FC236}">
                <a16:creationId xmlns:a16="http://schemas.microsoft.com/office/drawing/2014/main" id="{67F392E0-52D3-435A-9E6B-A6A22B4A7996}"/>
              </a:ext>
            </a:extLst>
          </p:cNvPr>
          <p:cNvPicPr/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8321940" y="5294216"/>
            <a:ext cx="3481541" cy="6162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0" name="Kép7">
            <a:extLst>
              <a:ext uri="{FF2B5EF4-FFF2-40B4-BE49-F238E27FC236}">
                <a16:creationId xmlns:a16="http://schemas.microsoft.com/office/drawing/2014/main" id="{C6709A2E-C2D1-4FF4-B874-CF808B0F614C}"/>
              </a:ext>
            </a:extLst>
          </p:cNvPr>
          <p:cNvPicPr/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4982483" y="1913546"/>
            <a:ext cx="2730427" cy="3895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1" name="Kép8">
            <a:extLst>
              <a:ext uri="{FF2B5EF4-FFF2-40B4-BE49-F238E27FC236}">
                <a16:creationId xmlns:a16="http://schemas.microsoft.com/office/drawing/2014/main" id="{4F361E9A-DB99-4428-A45B-C52DCC79AF3C}"/>
              </a:ext>
            </a:extLst>
          </p:cNvPr>
          <p:cNvPicPr/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982483" y="2482374"/>
            <a:ext cx="2726886" cy="36297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890274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FB27A919-6BBB-48F4-80BE-C17D3AD253D5}"/>
              </a:ext>
            </a:extLst>
          </p:cNvPr>
          <p:cNvSpPr txBox="1">
            <a:spLocks/>
          </p:cNvSpPr>
          <p:nvPr/>
        </p:nvSpPr>
        <p:spPr>
          <a:xfrm>
            <a:off x="4125488" y="2907653"/>
            <a:ext cx="3941025" cy="1042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32336603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429247" y="383963"/>
            <a:ext cx="2782833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6718792" y="2957296"/>
            <a:ext cx="3297160" cy="928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Admin or Librarian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812843-343E-431D-B845-6AC0CC858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311" y="2232530"/>
            <a:ext cx="2676899" cy="29436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EC4820-2A6F-4CB3-A4DD-F45A4846A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550" y="7010783"/>
            <a:ext cx="2676899" cy="29055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Title 3">
            <a:extLst>
              <a:ext uri="{FF2B5EF4-FFF2-40B4-BE49-F238E27FC236}">
                <a16:creationId xmlns:a16="http://schemas.microsoft.com/office/drawing/2014/main" id="{FB27A919-6BBB-48F4-80BE-C17D3AD253D5}"/>
              </a:ext>
            </a:extLst>
          </p:cNvPr>
          <p:cNvSpPr txBox="1">
            <a:spLocks/>
          </p:cNvSpPr>
          <p:nvPr/>
        </p:nvSpPr>
        <p:spPr>
          <a:xfrm>
            <a:off x="5125291" y="383490"/>
            <a:ext cx="295952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LMS Desktop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A45B698-534C-4FEF-9C05-B4575D0A6A5D}"/>
              </a:ext>
            </a:extLst>
          </p:cNvPr>
          <p:cNvSpPr txBox="1">
            <a:spLocks/>
          </p:cNvSpPr>
          <p:nvPr/>
        </p:nvSpPr>
        <p:spPr>
          <a:xfrm>
            <a:off x="7755592" y="6858000"/>
            <a:ext cx="32971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Show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Real time error feedback</a:t>
            </a:r>
          </a:p>
        </p:txBody>
      </p:sp>
    </p:spTree>
    <p:extLst>
      <p:ext uri="{BB962C8B-B14F-4D97-AF65-F5344CB8AC3E}">
        <p14:creationId xmlns:p14="http://schemas.microsoft.com/office/powerpoint/2010/main" val="3671479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7755592" y="2957296"/>
            <a:ext cx="32971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Admin or Librarian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812843-343E-431D-B845-6AC0CC858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508" y="2232530"/>
            <a:ext cx="2676899" cy="29436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00A826-0BEB-4287-A865-6E19902222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550" y="2251583"/>
            <a:ext cx="2676899" cy="29055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CFCC55-80C0-4022-9BFF-8E9376D903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226"/>
          <a:stretch/>
        </p:blipFill>
        <p:spPr>
          <a:xfrm>
            <a:off x="-7832884" y="1870096"/>
            <a:ext cx="7651462" cy="43391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24D1C201-B3D0-4E5A-8807-5BCF982B1C4E}"/>
              </a:ext>
            </a:extLst>
          </p:cNvPr>
          <p:cNvSpPr txBox="1">
            <a:spLocks/>
          </p:cNvSpPr>
          <p:nvPr/>
        </p:nvSpPr>
        <p:spPr>
          <a:xfrm>
            <a:off x="7755592" y="3657887"/>
            <a:ext cx="32971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Show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Real time error feedback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D1F634CB-9BEC-459F-AFF2-D1B51000C00C}"/>
              </a:ext>
            </a:extLst>
          </p:cNvPr>
          <p:cNvSpPr txBox="1">
            <a:spLocks/>
          </p:cNvSpPr>
          <p:nvPr/>
        </p:nvSpPr>
        <p:spPr>
          <a:xfrm>
            <a:off x="12379858" y="2996949"/>
            <a:ext cx="4134760" cy="2085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Books, user and borrowing statistics</a:t>
            </a:r>
            <a:endParaRPr lang="en-GB" sz="2400" dirty="0"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Manage database through the app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Change personal data</a:t>
            </a:r>
            <a:endParaRPr lang="en-GB" dirty="0">
              <a:effectLst/>
            </a:endParaRP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8A7E55F1-F400-4F7F-88CC-9AE816A100DF}"/>
              </a:ext>
            </a:extLst>
          </p:cNvPr>
          <p:cNvSpPr txBox="1">
            <a:spLocks/>
          </p:cNvSpPr>
          <p:nvPr/>
        </p:nvSpPr>
        <p:spPr>
          <a:xfrm>
            <a:off x="2429247" y="383963"/>
            <a:ext cx="2782833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</a:t>
            </a:r>
          </a:p>
        </p:txBody>
      </p:sp>
      <p:sp>
        <p:nvSpPr>
          <p:cNvPr id="13" name="Title 3">
            <a:extLst>
              <a:ext uri="{FF2B5EF4-FFF2-40B4-BE49-F238E27FC236}">
                <a16:creationId xmlns:a16="http://schemas.microsoft.com/office/drawing/2014/main" id="{BC14ABCD-025E-4DDA-8351-B181A9C3F4CA}"/>
              </a:ext>
            </a:extLst>
          </p:cNvPr>
          <p:cNvSpPr txBox="1">
            <a:spLocks/>
          </p:cNvSpPr>
          <p:nvPr/>
        </p:nvSpPr>
        <p:spPr>
          <a:xfrm>
            <a:off x="5125291" y="383490"/>
            <a:ext cx="295952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964809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8057240" y="2996949"/>
            <a:ext cx="4134760" cy="2085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Books, user and borrowing statistics</a:t>
            </a:r>
            <a:endParaRPr lang="en-GB" sz="2400" dirty="0"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Manage database through the app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Change personal data</a:t>
            </a:r>
            <a:endParaRPr lang="en-GB" dirty="0">
              <a:effectLst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DB86E5-1DF7-4562-BE6E-E8031A6EF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508" y="7042130"/>
            <a:ext cx="2676899" cy="29436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3C0B858-038B-42D0-B0BE-A6BCD2927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550" y="7061183"/>
            <a:ext cx="2676899" cy="29055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845FCA-B507-4523-A716-AE10E9A4DA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226"/>
          <a:stretch/>
        </p:blipFill>
        <p:spPr>
          <a:xfrm>
            <a:off x="238316" y="1870096"/>
            <a:ext cx="7651462" cy="43391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" name="Title 3">
            <a:extLst>
              <a:ext uri="{FF2B5EF4-FFF2-40B4-BE49-F238E27FC236}">
                <a16:creationId xmlns:a16="http://schemas.microsoft.com/office/drawing/2014/main" id="{263469BD-1D2F-4917-87B9-69BFA4797A84}"/>
              </a:ext>
            </a:extLst>
          </p:cNvPr>
          <p:cNvSpPr txBox="1">
            <a:spLocks/>
          </p:cNvSpPr>
          <p:nvPr/>
        </p:nvSpPr>
        <p:spPr>
          <a:xfrm>
            <a:off x="2429247" y="383963"/>
            <a:ext cx="2782833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4AE91172-0EB8-4E65-946C-FB00864AEDEB}"/>
              </a:ext>
            </a:extLst>
          </p:cNvPr>
          <p:cNvSpPr txBox="1">
            <a:spLocks/>
          </p:cNvSpPr>
          <p:nvPr/>
        </p:nvSpPr>
        <p:spPr>
          <a:xfrm>
            <a:off x="5125291" y="383490"/>
            <a:ext cx="295952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3849336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82626" y="347963"/>
            <a:ext cx="40101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907640" y="2258047"/>
            <a:ext cx="3441160" cy="3889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Windows Forms – C#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.NET 8.0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Nugget Packages: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MySQL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BCrypt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HTTP Client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Regular Expressions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OnceClick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effectLst/>
              </a:rPr>
              <a:t>Inno</a:t>
            </a:r>
            <a:r>
              <a:rPr lang="en-GB" dirty="0">
                <a:effectLst/>
              </a:rPr>
              <a:t> Setup Compiler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860F1B-38B8-4A46-B149-E0576B2F93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213" t="2545" r="5011" b="-1"/>
          <a:stretch/>
        </p:blipFill>
        <p:spPr>
          <a:xfrm>
            <a:off x="5116800" y="641927"/>
            <a:ext cx="1958400" cy="20146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5AE6DB-0D00-4DD3-A0B7-EA31A4096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1398" y="105637"/>
            <a:ext cx="2089680" cy="6490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79B9EE-A2A7-4CFA-A2C7-14E2F16C3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551" y="3061402"/>
            <a:ext cx="2314898" cy="308653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007526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61801" y="347963"/>
            <a:ext cx="8044397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MySQL connection in C#</a:t>
            </a:r>
            <a:endParaRPr lang="en-GB" sz="4000" dirty="0">
              <a:effectLst/>
            </a:endParaRPr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939799FA-B349-42FD-A183-A4BF99C233B7}"/>
              </a:ext>
            </a:extLst>
          </p:cNvPr>
          <p:cNvSpPr txBox="1">
            <a:spLocks/>
          </p:cNvSpPr>
          <p:nvPr/>
        </p:nvSpPr>
        <p:spPr>
          <a:xfrm>
            <a:off x="2434925" y="1368000"/>
            <a:ext cx="2712002" cy="929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Reusable Select function</a:t>
            </a:r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3097D8A6-4385-43FA-A825-6DCE96FDEA42}"/>
              </a:ext>
            </a:extLst>
          </p:cNvPr>
          <p:cNvSpPr txBox="1">
            <a:spLocks/>
          </p:cNvSpPr>
          <p:nvPr/>
        </p:nvSpPr>
        <p:spPr>
          <a:xfrm>
            <a:off x="8058219" y="2376706"/>
            <a:ext cx="2497960" cy="928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Straightforward function names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381002D-909C-4F1F-BA59-811E8474F5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989" b="-1"/>
          <a:stretch/>
        </p:blipFill>
        <p:spPr>
          <a:xfrm>
            <a:off x="833000" y="2376706"/>
            <a:ext cx="5915851" cy="344813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8A0708A-8A34-4617-8394-992986927A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4302" y="3304800"/>
            <a:ext cx="3905795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2019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613528" y="347963"/>
            <a:ext cx="8044397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NUnit testing</a:t>
            </a:r>
            <a:endParaRPr lang="en-GB" sz="4000" dirty="0">
              <a:effectLst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FC854195-7EBC-44A5-9E40-CBFBDFAF9CD3}"/>
              </a:ext>
            </a:extLst>
          </p:cNvPr>
          <p:cNvSpPr txBox="1">
            <a:spLocks/>
          </p:cNvSpPr>
          <p:nvPr/>
        </p:nvSpPr>
        <p:spPr>
          <a:xfrm>
            <a:off x="1923725" y="1296000"/>
            <a:ext cx="2712002" cy="929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Testing Login page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2A92CE1E-C904-4381-9A5B-5D1D56FC0362}"/>
              </a:ext>
            </a:extLst>
          </p:cNvPr>
          <p:cNvSpPr txBox="1">
            <a:spLocks/>
          </p:cNvSpPr>
          <p:nvPr/>
        </p:nvSpPr>
        <p:spPr>
          <a:xfrm>
            <a:off x="6913907" y="1965033"/>
            <a:ext cx="3778581" cy="929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Testing publication year with regular expressions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A9615A-E33C-4692-A5D3-52250422AA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01" y="1965033"/>
            <a:ext cx="4829849" cy="43535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C81184-6AAC-424A-8861-790099E3E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53" y="3078035"/>
            <a:ext cx="4772691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427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10">
            <a:extLst>
              <a:ext uri="{FF2B5EF4-FFF2-40B4-BE49-F238E27FC236}">
                <a16:creationId xmlns:a16="http://schemas.microsoft.com/office/drawing/2014/main" id="{6A045ED4-1B09-4F9E-BA9C-17BB876E42B1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75583" y="3429000"/>
            <a:ext cx="4292765" cy="1360246"/>
          </a:xfrm>
        </p:spPr>
        <p:txBody>
          <a:bodyPr anchor="t"/>
          <a:lstStyle/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Separate mobile application</a:t>
            </a: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Overdue fees -&gt; Online payment</a:t>
            </a: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Changeable languages</a:t>
            </a: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Customizable themes</a:t>
            </a: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FE1CA2AC-49C0-457B-B937-9CB709CE933E}"/>
              </a:ext>
            </a:extLst>
          </p:cNvPr>
          <p:cNvSpPr txBox="1">
            <a:spLocks/>
          </p:cNvSpPr>
          <p:nvPr/>
        </p:nvSpPr>
        <p:spPr>
          <a:xfrm>
            <a:off x="343304" y="2298769"/>
            <a:ext cx="4825044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/>
              <a:t>Future improvements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7558475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4389F5-4A55-478B-A1F5-6422DC11ED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267" y="763199"/>
            <a:ext cx="2012133" cy="698717"/>
          </a:xfrm>
        </p:spPr>
        <p:txBody>
          <a:bodyPr/>
          <a:lstStyle/>
          <a:p>
            <a:r>
              <a:rPr lang="en-GB" sz="4000" dirty="0"/>
              <a:t>Sources</a:t>
            </a:r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6A045ED4-1B09-4F9E-BA9C-17BB876E42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2267" y="1516383"/>
            <a:ext cx="6028000" cy="873525"/>
          </a:xfrm>
        </p:spPr>
        <p:txBody>
          <a:bodyPr anchor="t"/>
          <a:lstStyle/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>
                <a:hlinkClick r:id="rId2"/>
              </a:rPr>
              <a:t>Presentation template</a:t>
            </a:r>
            <a:endParaRPr lang="en-GB" sz="2000" dirty="0"/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All source for the pictures are linked to them</a:t>
            </a:r>
          </a:p>
        </p:txBody>
      </p:sp>
    </p:spTree>
    <p:extLst>
      <p:ext uri="{BB962C8B-B14F-4D97-AF65-F5344CB8AC3E}">
        <p14:creationId xmlns:p14="http://schemas.microsoft.com/office/powerpoint/2010/main" val="2127357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CFEA2-8BD3-4162-A14E-5A370755EF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4654" y="3097096"/>
            <a:ext cx="10282691" cy="1021624"/>
          </a:xfrm>
        </p:spPr>
        <p:txBody>
          <a:bodyPr/>
          <a:lstStyle/>
          <a:p>
            <a:r>
              <a:rPr lang="en-GB" dirty="0"/>
              <a:t>Library Management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1118D-090B-4B78-A783-AB1F86640C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402983"/>
            <a:ext cx="8010939" cy="455017"/>
          </a:xfrm>
        </p:spPr>
        <p:txBody>
          <a:bodyPr/>
          <a:lstStyle/>
          <a:p>
            <a:pPr marL="9525" indent="-9525"/>
            <a:r>
              <a:rPr lang="en-GB" sz="2100" dirty="0">
                <a:latin typeface="Oxanium"/>
              </a:rPr>
              <a:t>Made by:  Zoltán András Tóth, Máté Vágvölgyi, Soma István Zsömbörgi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70AED58-821E-40F9-96DD-6D5878250FD5}"/>
              </a:ext>
            </a:extLst>
          </p:cNvPr>
          <p:cNvSpPr txBox="1">
            <a:spLocks/>
          </p:cNvSpPr>
          <p:nvPr/>
        </p:nvSpPr>
        <p:spPr>
          <a:xfrm>
            <a:off x="886654" y="2134206"/>
            <a:ext cx="10282691" cy="102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pPr algn="ctr"/>
            <a:r>
              <a:rPr lang="en-GB" dirty="0"/>
              <a:t>LMS</a:t>
            </a:r>
          </a:p>
        </p:txBody>
      </p:sp>
    </p:spTree>
    <p:extLst>
      <p:ext uri="{BB962C8B-B14F-4D97-AF65-F5344CB8AC3E}">
        <p14:creationId xmlns:p14="http://schemas.microsoft.com/office/powerpoint/2010/main" val="28415358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5G Wireless Technology MK Plan by Slidesgo">
  <a:themeElements>
    <a:clrScheme name="Simple Light">
      <a:dk1>
        <a:srgbClr val="FFFFFF"/>
      </a:dk1>
      <a:lt1>
        <a:srgbClr val="EE98FF"/>
      </a:lt1>
      <a:dk2>
        <a:srgbClr val="CB7DFF"/>
      </a:dk2>
      <a:lt2>
        <a:srgbClr val="996EF7"/>
      </a:lt2>
      <a:accent1>
        <a:srgbClr val="54167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Purple_GOOD</Template>
  <TotalTime>510</TotalTime>
  <Words>788</Words>
  <Application>Microsoft Office PowerPoint</Application>
  <PresentationFormat>Szélesvásznú</PresentationFormat>
  <Paragraphs>242</Paragraphs>
  <Slides>40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2</vt:i4>
      </vt:variant>
      <vt:variant>
        <vt:lpstr>Diacímek</vt:lpstr>
      </vt:variant>
      <vt:variant>
        <vt:i4>40</vt:i4>
      </vt:variant>
    </vt:vector>
  </HeadingPairs>
  <TitlesOfParts>
    <vt:vector size="49" baseType="lpstr">
      <vt:lpstr>Arial</vt:lpstr>
      <vt:lpstr>Hind</vt:lpstr>
      <vt:lpstr>Nunito Light</vt:lpstr>
      <vt:lpstr>Oxanium</vt:lpstr>
      <vt:lpstr>Proxima Nova</vt:lpstr>
      <vt:lpstr>Proxima Nova Semibold</vt:lpstr>
      <vt:lpstr>Raleway</vt:lpstr>
      <vt:lpstr>5G Wireless Technology MK Plan by Slidesgo</vt:lpstr>
      <vt:lpstr>Slidesgo Final Pages</vt:lpstr>
      <vt:lpstr>Library Management System</vt:lpstr>
      <vt:lpstr>The problem</vt:lpstr>
      <vt:lpstr>The problem</vt:lpstr>
      <vt:lpstr>The problem</vt:lpstr>
      <vt:lpstr>The problem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Sources</vt:lpstr>
      <vt:lpstr>Library Management System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Kézigránát</dc:creator>
  <cp:lastModifiedBy>win10-vritual</cp:lastModifiedBy>
  <cp:revision>570</cp:revision>
  <dcterms:created xsi:type="dcterms:W3CDTF">2025-03-31T08:40:45Z</dcterms:created>
  <dcterms:modified xsi:type="dcterms:W3CDTF">2025-05-13T07:16:14Z</dcterms:modified>
</cp:coreProperties>
</file>