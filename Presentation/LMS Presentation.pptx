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9" r:id="rId2"/>
  </p:sldMasterIdLst>
  <p:sldIdLst>
    <p:sldId id="256" r:id="rId3"/>
    <p:sldId id="258" r:id="rId4"/>
    <p:sldId id="277" r:id="rId5"/>
    <p:sldId id="276" r:id="rId6"/>
    <p:sldId id="269" r:id="rId7"/>
    <p:sldId id="275" r:id="rId8"/>
    <p:sldId id="281" r:id="rId9"/>
    <p:sldId id="284" r:id="rId10"/>
    <p:sldId id="282" r:id="rId11"/>
    <p:sldId id="283" r:id="rId12"/>
    <p:sldId id="287" r:id="rId13"/>
    <p:sldId id="286" r:id="rId14"/>
    <p:sldId id="297" r:id="rId15"/>
    <p:sldId id="301" r:id="rId16"/>
    <p:sldId id="305" r:id="rId17"/>
    <p:sldId id="303" r:id="rId18"/>
    <p:sldId id="304" r:id="rId19"/>
    <p:sldId id="306" r:id="rId20"/>
    <p:sldId id="307" r:id="rId21"/>
    <p:sldId id="308" r:id="rId22"/>
    <p:sldId id="309" r:id="rId23"/>
    <p:sldId id="310" r:id="rId24"/>
    <p:sldId id="295" r:id="rId25"/>
    <p:sldId id="300" r:id="rId26"/>
    <p:sldId id="290" r:id="rId27"/>
    <p:sldId id="289" r:id="rId28"/>
    <p:sldId id="291" r:id="rId29"/>
    <p:sldId id="298" r:id="rId30"/>
    <p:sldId id="293" r:id="rId31"/>
    <p:sldId id="294" r:id="rId32"/>
    <p:sldId id="266" r:id="rId33"/>
    <p:sldId id="299" r:id="rId34"/>
    <p:sldId id="267" r:id="rId35"/>
    <p:sldId id="262" r:id="rId36"/>
    <p:sldId id="264" r:id="rId37"/>
    <p:sldId id="265" r:id="rId38"/>
    <p:sldId id="288" r:id="rId39"/>
    <p:sldId id="257" r:id="rId40"/>
    <p:sldId id="270" r:id="rId41"/>
    <p:sldId id="272" r:id="rId4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99867" y="1922317"/>
            <a:ext cx="9110800" cy="255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99867" y="4533184"/>
            <a:ext cx="60280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7878843" y="713332"/>
            <a:ext cx="4634557" cy="7493784"/>
            <a:chOff x="5909132" y="534999"/>
            <a:chExt cx="3475918" cy="5620338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5909132" y="3487469"/>
              <a:ext cx="2773543" cy="2667868"/>
              <a:chOff x="5909132" y="3487469"/>
              <a:chExt cx="2773543" cy="2667868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774900" y="3487469"/>
                <a:ext cx="907775" cy="9077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3">
                <a:alphaModFix amt="32000"/>
              </a:blip>
              <a:stretch>
                <a:fillRect/>
              </a:stretch>
            </p:blipFill>
            <p:spPr>
              <a:xfrm>
                <a:off x="5909132" y="3955138"/>
                <a:ext cx="2200136" cy="2200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" name="Google Shape;16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67874" y="534999"/>
              <a:ext cx="2617176" cy="12926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" name="Google Shape;17;p2"/>
          <p:cNvGrpSpPr/>
          <p:nvPr/>
        </p:nvGrpSpPr>
        <p:grpSpPr>
          <a:xfrm>
            <a:off x="607068" y="724398"/>
            <a:ext cx="10334849" cy="5788228"/>
            <a:chOff x="455300" y="543298"/>
            <a:chExt cx="7751137" cy="4341171"/>
          </a:xfrm>
        </p:grpSpPr>
        <p:pic>
          <p:nvPicPr>
            <p:cNvPr id="18" name="Google Shape;18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5300" y="543298"/>
              <a:ext cx="519600" cy="519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27437" y="3703430"/>
              <a:ext cx="1179000" cy="118104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008093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2990867" y="3173100"/>
            <a:ext cx="4044800" cy="13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1537667" y="3173100"/>
            <a:ext cx="1453200" cy="135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667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grpSp>
        <p:nvGrpSpPr>
          <p:cNvPr id="24" name="Google Shape;24;p3"/>
          <p:cNvGrpSpPr/>
          <p:nvPr/>
        </p:nvGrpSpPr>
        <p:grpSpPr>
          <a:xfrm>
            <a:off x="4600735" y="-767926"/>
            <a:ext cx="8182576" cy="5741689"/>
            <a:chOff x="3450551" y="-575945"/>
            <a:chExt cx="6136932" cy="4306267"/>
          </a:xfrm>
        </p:grpSpPr>
        <p:pic>
          <p:nvPicPr>
            <p:cNvPr id="25" name="Google Shape;25;p3"/>
            <p:cNvPicPr preferRelativeResize="0"/>
            <p:nvPr/>
          </p:nvPicPr>
          <p:blipFill>
            <a:blip r:embed="rId2">
              <a:alphaModFix amt="44000"/>
            </a:blip>
            <a:stretch>
              <a:fillRect/>
            </a:stretch>
          </p:blipFill>
          <p:spPr>
            <a:xfrm>
              <a:off x="3450551" y="-575945"/>
              <a:ext cx="2338675" cy="23387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70343" y="1413148"/>
              <a:ext cx="2317140" cy="23171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" name="Google Shape;27;p3"/>
          <p:cNvGrpSpPr/>
          <p:nvPr/>
        </p:nvGrpSpPr>
        <p:grpSpPr>
          <a:xfrm>
            <a:off x="7646471" y="1068476"/>
            <a:ext cx="5952535" cy="5414933"/>
            <a:chOff x="5734853" y="801357"/>
            <a:chExt cx="4464401" cy="4061200"/>
          </a:xfrm>
        </p:grpSpPr>
        <p:pic>
          <p:nvPicPr>
            <p:cNvPr id="28" name="Google Shape;28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734853" y="3691757"/>
              <a:ext cx="1170776" cy="117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58535" y="801357"/>
              <a:ext cx="3540719" cy="3540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85939" y="2228192"/>
              <a:ext cx="685948" cy="687084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7072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5" name="Google Shape;35;p4"/>
          <p:cNvGrpSpPr/>
          <p:nvPr/>
        </p:nvGrpSpPr>
        <p:grpSpPr>
          <a:xfrm rot="10800000" flipH="1">
            <a:off x="9616846" y="5516289"/>
            <a:ext cx="1785596" cy="1785596"/>
            <a:chOff x="3620002" y="1131752"/>
            <a:chExt cx="828301" cy="828301"/>
          </a:xfrm>
        </p:grpSpPr>
        <p:pic>
          <p:nvPicPr>
            <p:cNvPr id="36" name="Google Shape;36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3620002" y="1131752"/>
              <a:ext cx="828301" cy="828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20721" y="1231931"/>
              <a:ext cx="626858" cy="62793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6019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1955733" y="3124200"/>
            <a:ext cx="3488800" cy="6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2"/>
          </p:nvPr>
        </p:nvSpPr>
        <p:spPr>
          <a:xfrm>
            <a:off x="6747431" y="3124200"/>
            <a:ext cx="3488800" cy="6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3"/>
          </p:nvPr>
        </p:nvSpPr>
        <p:spPr>
          <a:xfrm>
            <a:off x="1955748" y="3627233"/>
            <a:ext cx="3488800" cy="18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4"/>
          </p:nvPr>
        </p:nvSpPr>
        <p:spPr>
          <a:xfrm>
            <a:off x="6747441" y="3627233"/>
            <a:ext cx="3488800" cy="18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45" name="Google Shape;45;p5"/>
          <p:cNvGrpSpPr/>
          <p:nvPr/>
        </p:nvGrpSpPr>
        <p:grpSpPr>
          <a:xfrm>
            <a:off x="2606837" y="1635394"/>
            <a:ext cx="8754167" cy="5719653"/>
            <a:chOff x="1955127" y="1226545"/>
            <a:chExt cx="6565625" cy="4289740"/>
          </a:xfrm>
        </p:grpSpPr>
        <p:pic>
          <p:nvPicPr>
            <p:cNvPr id="46" name="Google Shape;46;p5"/>
            <p:cNvPicPr preferRelativeResize="0"/>
            <p:nvPr/>
          </p:nvPicPr>
          <p:blipFill>
            <a:blip r:embed="rId2">
              <a:alphaModFix amt="44000"/>
            </a:blip>
            <a:stretch>
              <a:fillRect/>
            </a:stretch>
          </p:blipFill>
          <p:spPr>
            <a:xfrm>
              <a:off x="1955127" y="4608495"/>
              <a:ext cx="907775" cy="9077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5"/>
            <p:cNvPicPr preferRelativeResize="0"/>
            <p:nvPr/>
          </p:nvPicPr>
          <p:blipFill>
            <a:blip r:embed="rId2">
              <a:alphaModFix amt="44000"/>
            </a:blip>
            <a:stretch>
              <a:fillRect/>
            </a:stretch>
          </p:blipFill>
          <p:spPr>
            <a:xfrm>
              <a:off x="7612977" y="1226545"/>
              <a:ext cx="907775" cy="9077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" name="Google Shape;48;p5"/>
          <p:cNvGrpSpPr/>
          <p:nvPr/>
        </p:nvGrpSpPr>
        <p:grpSpPr>
          <a:xfrm>
            <a:off x="2248202" y="1482601"/>
            <a:ext cx="9507969" cy="4904449"/>
            <a:chOff x="1686151" y="1111950"/>
            <a:chExt cx="7130977" cy="3678337"/>
          </a:xfrm>
        </p:grpSpPr>
        <p:pic>
          <p:nvPicPr>
            <p:cNvPr id="49" name="Google Shape;49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1686151" y="4426712"/>
              <a:ext cx="363575" cy="3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45421" y="1111950"/>
              <a:ext cx="571707" cy="5727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86135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10867" y="4500"/>
            <a:ext cx="12192000" cy="68580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953467" y="2208100"/>
            <a:ext cx="42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953467" y="2895500"/>
            <a:ext cx="4286400" cy="17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Google Shape;64;p7"/>
          <p:cNvSpPr>
            <a:spLocks noGrp="1"/>
          </p:cNvSpPr>
          <p:nvPr>
            <p:ph type="pic" idx="2"/>
          </p:nvPr>
        </p:nvSpPr>
        <p:spPr>
          <a:xfrm>
            <a:off x="5905500" y="0"/>
            <a:ext cx="62864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65" name="Google Shape;65;p7"/>
          <p:cNvPicPr preferRelativeResize="0"/>
          <p:nvPr/>
        </p:nvPicPr>
        <p:blipFill>
          <a:blip r:embed="rId2">
            <a:alphaModFix amt="44000"/>
          </a:blip>
          <a:stretch>
            <a:fillRect/>
          </a:stretch>
        </p:blipFill>
        <p:spPr>
          <a:xfrm>
            <a:off x="3279937" y="5943960"/>
            <a:ext cx="1210367" cy="12103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7"/>
          <p:cNvGrpSpPr/>
          <p:nvPr/>
        </p:nvGrpSpPr>
        <p:grpSpPr>
          <a:xfrm>
            <a:off x="-517234" y="4566085"/>
            <a:ext cx="4644735" cy="2225448"/>
            <a:chOff x="-387926" y="3424564"/>
            <a:chExt cx="3483551" cy="1669086"/>
          </a:xfrm>
        </p:grpSpPr>
        <p:pic>
          <p:nvPicPr>
            <p:cNvPr id="67" name="Google Shape;67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2732051" y="4730075"/>
              <a:ext cx="363575" cy="3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7926" y="3424564"/>
              <a:ext cx="979200" cy="98092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539617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1850800" y="1742800"/>
            <a:ext cx="84904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299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2988567" y="2141733"/>
            <a:ext cx="62148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2988633" y="3309067"/>
            <a:ext cx="6214800" cy="14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03639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 hasCustomPrompt="1"/>
          </p:nvPr>
        </p:nvSpPr>
        <p:spPr>
          <a:xfrm>
            <a:off x="953467" y="2397351"/>
            <a:ext cx="5334000" cy="16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1"/>
          </p:nvPr>
        </p:nvSpPr>
        <p:spPr>
          <a:xfrm>
            <a:off x="953467" y="3869849"/>
            <a:ext cx="5334000" cy="5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82" name="Google Shape;82;p11"/>
          <p:cNvGrpSpPr/>
          <p:nvPr/>
        </p:nvGrpSpPr>
        <p:grpSpPr>
          <a:xfrm>
            <a:off x="5308604" y="-1016000"/>
            <a:ext cx="7151931" cy="9079031"/>
            <a:chOff x="3981453" y="-762000"/>
            <a:chExt cx="5363948" cy="6809273"/>
          </a:xfrm>
        </p:grpSpPr>
        <p:pic>
          <p:nvPicPr>
            <p:cNvPr id="83" name="Google Shape;83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333623" y="1827998"/>
              <a:ext cx="3011778" cy="1487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3981453" y="-762000"/>
              <a:ext cx="1943098" cy="1943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1"/>
            <p:cNvPicPr preferRelativeResize="0"/>
            <p:nvPr/>
          </p:nvPicPr>
          <p:blipFill>
            <a:blip r:embed="rId4">
              <a:alphaModFix amt="44000"/>
            </a:blip>
            <a:stretch>
              <a:fillRect/>
            </a:stretch>
          </p:blipFill>
          <p:spPr>
            <a:xfrm flipH="1">
              <a:off x="5183801" y="4271273"/>
              <a:ext cx="1776000" cy="177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1"/>
            <p:cNvPicPr preferRelativeResize="0"/>
            <p:nvPr/>
          </p:nvPicPr>
          <p:blipFill>
            <a:blip r:embed="rId5">
              <a:alphaModFix amt="26000"/>
            </a:blip>
            <a:stretch>
              <a:fillRect/>
            </a:stretch>
          </p:blipFill>
          <p:spPr>
            <a:xfrm flipH="1">
              <a:off x="5695325" y="4782156"/>
              <a:ext cx="753054" cy="754279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978933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" hasCustomPrompt="1"/>
          </p:nvPr>
        </p:nvSpPr>
        <p:spPr>
          <a:xfrm>
            <a:off x="1426627" y="2220411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3" hasCustomPrompt="1"/>
          </p:nvPr>
        </p:nvSpPr>
        <p:spPr>
          <a:xfrm>
            <a:off x="1426627" y="4286088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4" hasCustomPrompt="1"/>
          </p:nvPr>
        </p:nvSpPr>
        <p:spPr>
          <a:xfrm>
            <a:off x="4753797" y="2220411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5" hasCustomPrompt="1"/>
          </p:nvPr>
        </p:nvSpPr>
        <p:spPr>
          <a:xfrm>
            <a:off x="4753797" y="4286088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6" hasCustomPrompt="1"/>
          </p:nvPr>
        </p:nvSpPr>
        <p:spPr>
          <a:xfrm>
            <a:off x="8080967" y="2220411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7" hasCustomPrompt="1"/>
          </p:nvPr>
        </p:nvSpPr>
        <p:spPr>
          <a:xfrm>
            <a:off x="8080967" y="4286088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1426627" y="2690033"/>
            <a:ext cx="26844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8"/>
          </p:nvPr>
        </p:nvSpPr>
        <p:spPr>
          <a:xfrm>
            <a:off x="4753797" y="2690033"/>
            <a:ext cx="26844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9"/>
          </p:nvPr>
        </p:nvSpPr>
        <p:spPr>
          <a:xfrm>
            <a:off x="8080967" y="2690033"/>
            <a:ext cx="26844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3"/>
          </p:nvPr>
        </p:nvSpPr>
        <p:spPr>
          <a:xfrm>
            <a:off x="1426627" y="4755900"/>
            <a:ext cx="26844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4"/>
          </p:nvPr>
        </p:nvSpPr>
        <p:spPr>
          <a:xfrm>
            <a:off x="4753797" y="4755900"/>
            <a:ext cx="26844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5"/>
          </p:nvPr>
        </p:nvSpPr>
        <p:spPr>
          <a:xfrm>
            <a:off x="8080967" y="4755900"/>
            <a:ext cx="26844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667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03" name="Google Shape;103;p13"/>
          <p:cNvGrpSpPr/>
          <p:nvPr/>
        </p:nvGrpSpPr>
        <p:grpSpPr>
          <a:xfrm>
            <a:off x="-790283" y="514033"/>
            <a:ext cx="14116500" cy="6779867"/>
            <a:chOff x="-592713" y="385525"/>
            <a:chExt cx="10587375" cy="5084900"/>
          </a:xfrm>
        </p:grpSpPr>
        <p:pic>
          <p:nvPicPr>
            <p:cNvPr id="104" name="Google Shape;104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20525" y="4481275"/>
              <a:ext cx="989150" cy="989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592713" y="3366000"/>
              <a:ext cx="1354975" cy="1354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162200" y="385525"/>
              <a:ext cx="989150" cy="989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9687" y="1110162"/>
              <a:ext cx="1354975" cy="1354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13"/>
          <p:cNvGrpSpPr/>
          <p:nvPr/>
        </p:nvGrpSpPr>
        <p:grpSpPr>
          <a:xfrm>
            <a:off x="655059" y="904834"/>
            <a:ext cx="11155941" cy="6028033"/>
            <a:chOff x="491294" y="678625"/>
            <a:chExt cx="8366956" cy="4521025"/>
          </a:xfrm>
        </p:grpSpPr>
        <p:pic>
          <p:nvPicPr>
            <p:cNvPr id="109" name="Google Shape;109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55275" y="678625"/>
              <a:ext cx="402975" cy="402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1294" y="4752050"/>
              <a:ext cx="447616" cy="4476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18260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13" name="Google Shape;113;p1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14" name="Google Shape;114;p14"/>
          <p:cNvGrpSpPr/>
          <p:nvPr/>
        </p:nvGrpSpPr>
        <p:grpSpPr>
          <a:xfrm>
            <a:off x="8216884" y="-922133"/>
            <a:ext cx="2368000" cy="2368000"/>
            <a:chOff x="6162663" y="-691600"/>
            <a:chExt cx="1776000" cy="1776000"/>
          </a:xfrm>
        </p:grpSpPr>
        <p:pic>
          <p:nvPicPr>
            <p:cNvPr id="115" name="Google Shape;115;p14"/>
            <p:cNvPicPr preferRelativeResize="0"/>
            <p:nvPr/>
          </p:nvPicPr>
          <p:blipFill>
            <a:blip r:embed="rId2">
              <a:alphaModFix amt="26000"/>
            </a:blip>
            <a:stretch>
              <a:fillRect/>
            </a:stretch>
          </p:blipFill>
          <p:spPr>
            <a:xfrm rot="10800000">
              <a:off x="6674187" y="-180761"/>
              <a:ext cx="753054" cy="754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4"/>
            <p:cNvPicPr preferRelativeResize="0"/>
            <p:nvPr/>
          </p:nvPicPr>
          <p:blipFill>
            <a:blip r:embed="rId3">
              <a:alphaModFix amt="44000"/>
            </a:blip>
            <a:stretch>
              <a:fillRect/>
            </a:stretch>
          </p:blipFill>
          <p:spPr>
            <a:xfrm rot="10800000">
              <a:off x="6162663" y="-691600"/>
              <a:ext cx="1776000" cy="1776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45909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728452" y="593360"/>
            <a:ext cx="2664560" cy="76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8775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24" name="Google Shape;124;p16"/>
          <p:cNvGrpSpPr/>
          <p:nvPr/>
        </p:nvGrpSpPr>
        <p:grpSpPr>
          <a:xfrm>
            <a:off x="2702536" y="2581743"/>
            <a:ext cx="8874367" cy="4963803"/>
            <a:chOff x="2026902" y="1936307"/>
            <a:chExt cx="6655775" cy="3722852"/>
          </a:xfrm>
        </p:grpSpPr>
        <p:pic>
          <p:nvPicPr>
            <p:cNvPr id="125" name="Google Shape;125;p16"/>
            <p:cNvPicPr preferRelativeResize="0"/>
            <p:nvPr/>
          </p:nvPicPr>
          <p:blipFill>
            <a:blip r:embed="rId2">
              <a:alphaModFix amt="44000"/>
            </a:blip>
            <a:stretch>
              <a:fillRect/>
            </a:stretch>
          </p:blipFill>
          <p:spPr>
            <a:xfrm>
              <a:off x="7774902" y="1936307"/>
              <a:ext cx="907775" cy="9077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16"/>
            <p:cNvPicPr preferRelativeResize="0"/>
            <p:nvPr/>
          </p:nvPicPr>
          <p:blipFill>
            <a:blip r:embed="rId2">
              <a:alphaModFix amt="44000"/>
            </a:blip>
            <a:stretch>
              <a:fillRect/>
            </a:stretch>
          </p:blipFill>
          <p:spPr>
            <a:xfrm>
              <a:off x="2026902" y="4751370"/>
              <a:ext cx="907775" cy="9077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16"/>
          <p:cNvGrpSpPr/>
          <p:nvPr/>
        </p:nvGrpSpPr>
        <p:grpSpPr>
          <a:xfrm>
            <a:off x="3912902" y="2428951"/>
            <a:ext cx="8059169" cy="4339100"/>
            <a:chOff x="2934676" y="1821713"/>
            <a:chExt cx="6044377" cy="3254325"/>
          </a:xfrm>
        </p:grpSpPr>
        <p:pic>
          <p:nvPicPr>
            <p:cNvPr id="128" name="Google Shape;128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07346" y="1821713"/>
              <a:ext cx="571707" cy="57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2934676" y="4712462"/>
              <a:ext cx="363575" cy="3635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11363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01" y="5921233"/>
            <a:ext cx="763572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77198" y="4394808"/>
            <a:ext cx="1434067" cy="14340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3716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grpSp>
        <p:nvGrpSpPr>
          <p:cNvPr id="137" name="Google Shape;137;p18"/>
          <p:cNvGrpSpPr/>
          <p:nvPr/>
        </p:nvGrpSpPr>
        <p:grpSpPr>
          <a:xfrm>
            <a:off x="-790283" y="514033"/>
            <a:ext cx="14116500" cy="6779867"/>
            <a:chOff x="-592713" y="385525"/>
            <a:chExt cx="10587375" cy="5084900"/>
          </a:xfrm>
        </p:grpSpPr>
        <p:pic>
          <p:nvPicPr>
            <p:cNvPr id="138" name="Google Shape;138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20525" y="4481275"/>
              <a:ext cx="989150" cy="989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592713" y="3366000"/>
              <a:ext cx="1354975" cy="1354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162200" y="385525"/>
              <a:ext cx="989150" cy="989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9687" y="1110162"/>
              <a:ext cx="1354975" cy="1354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2" name="Google Shape;142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655059" y="904834"/>
            <a:ext cx="11155941" cy="6028033"/>
            <a:chOff x="491294" y="678625"/>
            <a:chExt cx="8366956" cy="4521025"/>
          </a:xfrm>
        </p:grpSpPr>
        <p:pic>
          <p:nvPicPr>
            <p:cNvPr id="144" name="Google Shape;144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1294" y="4752050"/>
              <a:ext cx="447616" cy="447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55275" y="678625"/>
              <a:ext cx="402975" cy="40295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1606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49" name="Google Shape;14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678101" y="279609"/>
            <a:ext cx="1210367" cy="1210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9"/>
          <p:cNvGrpSpPr/>
          <p:nvPr/>
        </p:nvGrpSpPr>
        <p:grpSpPr>
          <a:xfrm>
            <a:off x="10378867" y="354537"/>
            <a:ext cx="1639133" cy="1316196"/>
            <a:chOff x="7784150" y="265902"/>
            <a:chExt cx="1229350" cy="987147"/>
          </a:xfrm>
        </p:grpSpPr>
        <p:pic>
          <p:nvPicPr>
            <p:cNvPr id="151" name="Google Shape;15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93900" y="733486"/>
              <a:ext cx="519600" cy="519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784150" y="265902"/>
              <a:ext cx="156475" cy="15672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57149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Google Shape;156;p20"/>
          <p:cNvGrpSpPr/>
          <p:nvPr/>
        </p:nvGrpSpPr>
        <p:grpSpPr>
          <a:xfrm>
            <a:off x="4288634" y="515409"/>
            <a:ext cx="7289879" cy="7583260"/>
            <a:chOff x="3216475" y="386556"/>
            <a:chExt cx="5467409" cy="5687445"/>
          </a:xfrm>
        </p:grpSpPr>
        <p:pic>
          <p:nvPicPr>
            <p:cNvPr id="157" name="Google Shape;157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45310" y="386556"/>
              <a:ext cx="738575" cy="738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16475" y="4648200"/>
              <a:ext cx="1425801" cy="14258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20"/>
          <p:cNvGrpSpPr/>
          <p:nvPr/>
        </p:nvGrpSpPr>
        <p:grpSpPr>
          <a:xfrm>
            <a:off x="3996133" y="254004"/>
            <a:ext cx="7843800" cy="6293595"/>
            <a:chOff x="2997100" y="190503"/>
            <a:chExt cx="5882850" cy="4720196"/>
          </a:xfrm>
        </p:grpSpPr>
        <p:pic>
          <p:nvPicPr>
            <p:cNvPr id="160" name="Google Shape;16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749250" y="190503"/>
              <a:ext cx="1130700" cy="1130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97100" y="4753977"/>
              <a:ext cx="156475" cy="1567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674000" y="1382127"/>
              <a:ext cx="156475" cy="15672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788830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1"/>
          </p:nvPr>
        </p:nvSpPr>
        <p:spPr>
          <a:xfrm>
            <a:off x="5218933" y="2993251"/>
            <a:ext cx="6019600" cy="22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5218933" y="1637117"/>
            <a:ext cx="6019600" cy="13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7" name="Google Shape;167;p21"/>
          <p:cNvSpPr>
            <a:spLocks noGrp="1"/>
          </p:cNvSpPr>
          <p:nvPr>
            <p:ph type="pic" idx="2"/>
          </p:nvPr>
        </p:nvSpPr>
        <p:spPr>
          <a:xfrm>
            <a:off x="2282784" y="1441467"/>
            <a:ext cx="2256800" cy="3956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68" name="Google Shape;168;p21"/>
          <p:cNvPicPr preferRelativeResize="0"/>
          <p:nvPr/>
        </p:nvPicPr>
        <p:blipFill>
          <a:blip r:embed="rId2">
            <a:alphaModFix amt="44000"/>
          </a:blip>
          <a:stretch>
            <a:fillRect/>
          </a:stretch>
        </p:blipFill>
        <p:spPr>
          <a:xfrm>
            <a:off x="5218933" y="5734333"/>
            <a:ext cx="1654700" cy="165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21"/>
          <p:cNvGrpSpPr/>
          <p:nvPr/>
        </p:nvGrpSpPr>
        <p:grpSpPr>
          <a:xfrm>
            <a:off x="-377833" y="-398936"/>
            <a:ext cx="12150733" cy="7291973"/>
            <a:chOff x="-283375" y="-299202"/>
            <a:chExt cx="9113050" cy="5468980"/>
          </a:xfrm>
        </p:grpSpPr>
        <p:pic>
          <p:nvPicPr>
            <p:cNvPr id="170" name="Google Shape;170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83375" y="3529307"/>
              <a:ext cx="770100" cy="7714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4286191" y="4672736"/>
              <a:ext cx="497038" cy="4970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7588650" y="-299202"/>
              <a:ext cx="1241025" cy="12410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45871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812780" lvl="1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77" name="Google Shape;17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63733" y="4388268"/>
            <a:ext cx="4634665" cy="4634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0612" y="3662117"/>
            <a:ext cx="2096545" cy="2096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4468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grpSp>
        <p:nvGrpSpPr>
          <p:cNvPr id="181" name="Google Shape;181;p23"/>
          <p:cNvGrpSpPr/>
          <p:nvPr/>
        </p:nvGrpSpPr>
        <p:grpSpPr>
          <a:xfrm>
            <a:off x="2356271" y="956906"/>
            <a:ext cx="9803431" cy="6967895"/>
            <a:chOff x="1767203" y="717679"/>
            <a:chExt cx="7352573" cy="5225921"/>
          </a:xfrm>
        </p:grpSpPr>
        <p:pic>
          <p:nvPicPr>
            <p:cNvPr id="182" name="Google Shape;182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767203" y="4000500"/>
              <a:ext cx="1943098" cy="1943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92675" y="717679"/>
              <a:ext cx="1027100" cy="10271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subTitle" idx="1"/>
          </p:nvPr>
        </p:nvSpPr>
        <p:spPr>
          <a:xfrm>
            <a:off x="1181900" y="3390900"/>
            <a:ext cx="2907200" cy="53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6" name="Google Shape;186;p23"/>
          <p:cNvSpPr txBox="1">
            <a:spLocks noGrp="1"/>
          </p:cNvSpPr>
          <p:nvPr>
            <p:ph type="subTitle" idx="2"/>
          </p:nvPr>
        </p:nvSpPr>
        <p:spPr>
          <a:xfrm>
            <a:off x="1181900" y="3771900"/>
            <a:ext cx="2907200" cy="11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7" name="Google Shape;187;p23"/>
          <p:cNvSpPr txBox="1">
            <a:spLocks noGrp="1"/>
          </p:cNvSpPr>
          <p:nvPr>
            <p:ph type="subTitle" idx="3"/>
          </p:nvPr>
        </p:nvSpPr>
        <p:spPr>
          <a:xfrm>
            <a:off x="4642384" y="3771900"/>
            <a:ext cx="2907200" cy="11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8" name="Google Shape;188;p23"/>
          <p:cNvSpPr txBox="1">
            <a:spLocks noGrp="1"/>
          </p:cNvSpPr>
          <p:nvPr>
            <p:ph type="subTitle" idx="4"/>
          </p:nvPr>
        </p:nvSpPr>
        <p:spPr>
          <a:xfrm>
            <a:off x="8102900" y="3771900"/>
            <a:ext cx="2907200" cy="11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9" name="Google Shape;189;p23"/>
          <p:cNvSpPr txBox="1">
            <a:spLocks noGrp="1"/>
          </p:cNvSpPr>
          <p:nvPr>
            <p:ph type="subTitle" idx="5"/>
          </p:nvPr>
        </p:nvSpPr>
        <p:spPr>
          <a:xfrm>
            <a:off x="4642384" y="3390900"/>
            <a:ext cx="2907200" cy="53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0" name="Google Shape;190;p23"/>
          <p:cNvSpPr txBox="1">
            <a:spLocks noGrp="1"/>
          </p:cNvSpPr>
          <p:nvPr>
            <p:ph type="subTitle" idx="6"/>
          </p:nvPr>
        </p:nvSpPr>
        <p:spPr>
          <a:xfrm>
            <a:off x="8102900" y="3390900"/>
            <a:ext cx="2907200" cy="53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91" name="Google Shape;191;p23"/>
          <p:cNvGrpSpPr/>
          <p:nvPr/>
        </p:nvGrpSpPr>
        <p:grpSpPr>
          <a:xfrm>
            <a:off x="3061023" y="593384"/>
            <a:ext cx="9462223" cy="6626617"/>
            <a:chOff x="2295767" y="445037"/>
            <a:chExt cx="7096667" cy="4969963"/>
          </a:xfrm>
        </p:grpSpPr>
        <p:pic>
          <p:nvPicPr>
            <p:cNvPr id="192" name="Google Shape;192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95767" y="4529100"/>
              <a:ext cx="885943" cy="885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820025" y="445037"/>
              <a:ext cx="1572409" cy="157241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489946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subTitle" idx="1"/>
          </p:nvPr>
        </p:nvSpPr>
        <p:spPr>
          <a:xfrm>
            <a:off x="963433" y="2974137"/>
            <a:ext cx="30732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5"/>
          <p:cNvSpPr txBox="1">
            <a:spLocks noGrp="1"/>
          </p:cNvSpPr>
          <p:nvPr>
            <p:ph type="subTitle" idx="2"/>
          </p:nvPr>
        </p:nvSpPr>
        <p:spPr>
          <a:xfrm>
            <a:off x="4563771" y="2974137"/>
            <a:ext cx="30732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5"/>
          <p:cNvSpPr txBox="1">
            <a:spLocks noGrp="1"/>
          </p:cNvSpPr>
          <p:nvPr>
            <p:ph type="subTitle" idx="3"/>
          </p:nvPr>
        </p:nvSpPr>
        <p:spPr>
          <a:xfrm>
            <a:off x="8157688" y="2974137"/>
            <a:ext cx="30744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3" name="Google Shape;213;p25"/>
          <p:cNvSpPr txBox="1">
            <a:spLocks noGrp="1"/>
          </p:cNvSpPr>
          <p:nvPr>
            <p:ph type="subTitle" idx="4"/>
          </p:nvPr>
        </p:nvSpPr>
        <p:spPr>
          <a:xfrm>
            <a:off x="963433" y="5428267"/>
            <a:ext cx="30732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4" name="Google Shape;214;p25"/>
          <p:cNvSpPr txBox="1">
            <a:spLocks noGrp="1"/>
          </p:cNvSpPr>
          <p:nvPr>
            <p:ph type="subTitle" idx="5"/>
          </p:nvPr>
        </p:nvSpPr>
        <p:spPr>
          <a:xfrm>
            <a:off x="4563771" y="5428267"/>
            <a:ext cx="30732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" name="Google Shape;215;p25"/>
          <p:cNvSpPr txBox="1">
            <a:spLocks noGrp="1"/>
          </p:cNvSpPr>
          <p:nvPr>
            <p:ph type="subTitle" idx="6"/>
          </p:nvPr>
        </p:nvSpPr>
        <p:spPr>
          <a:xfrm>
            <a:off x="8157688" y="5428267"/>
            <a:ext cx="30744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6" name="Google Shape;216;p25"/>
          <p:cNvSpPr txBox="1">
            <a:spLocks noGrp="1"/>
          </p:cNvSpPr>
          <p:nvPr>
            <p:ph type="subTitle" idx="7"/>
          </p:nvPr>
        </p:nvSpPr>
        <p:spPr>
          <a:xfrm>
            <a:off x="963433" y="2421067"/>
            <a:ext cx="30732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25"/>
          <p:cNvSpPr txBox="1">
            <a:spLocks noGrp="1"/>
          </p:cNvSpPr>
          <p:nvPr>
            <p:ph type="subTitle" idx="8"/>
          </p:nvPr>
        </p:nvSpPr>
        <p:spPr>
          <a:xfrm>
            <a:off x="4563780" y="2421067"/>
            <a:ext cx="30732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9"/>
          </p:nvPr>
        </p:nvSpPr>
        <p:spPr>
          <a:xfrm>
            <a:off x="8164131" y="2421067"/>
            <a:ext cx="30744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13"/>
          </p:nvPr>
        </p:nvSpPr>
        <p:spPr>
          <a:xfrm>
            <a:off x="963433" y="4880609"/>
            <a:ext cx="30732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14"/>
          </p:nvPr>
        </p:nvSpPr>
        <p:spPr>
          <a:xfrm>
            <a:off x="4563780" y="4880608"/>
            <a:ext cx="30732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15"/>
          </p:nvPr>
        </p:nvSpPr>
        <p:spPr>
          <a:xfrm>
            <a:off x="8160871" y="4880609"/>
            <a:ext cx="3073200" cy="71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22" name="Google Shape;222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678101" y="279609"/>
            <a:ext cx="1210367" cy="1210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25"/>
          <p:cNvGrpSpPr/>
          <p:nvPr/>
        </p:nvGrpSpPr>
        <p:grpSpPr>
          <a:xfrm>
            <a:off x="11178968" y="977982"/>
            <a:ext cx="839033" cy="1015517"/>
            <a:chOff x="8384225" y="733486"/>
            <a:chExt cx="629275" cy="761638"/>
          </a:xfrm>
        </p:grpSpPr>
        <p:pic>
          <p:nvPicPr>
            <p:cNvPr id="224" name="Google Shape;224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93900" y="733486"/>
              <a:ext cx="519600" cy="519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84225" y="1338402"/>
              <a:ext cx="156475" cy="15672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434322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42" name="Google Shape;242;p27"/>
          <p:cNvSpPr txBox="1">
            <a:spLocks noGrp="1"/>
          </p:cNvSpPr>
          <p:nvPr>
            <p:ph type="ctrTitle"/>
          </p:nvPr>
        </p:nvSpPr>
        <p:spPr>
          <a:xfrm>
            <a:off x="7289800" y="1007117"/>
            <a:ext cx="3948800" cy="14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"/>
          </p:nvPr>
        </p:nvSpPr>
        <p:spPr>
          <a:xfrm>
            <a:off x="7289900" y="2355932"/>
            <a:ext cx="3948800" cy="13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44" name="Google Shape;244;p27"/>
          <p:cNvPicPr preferRelativeResize="0"/>
          <p:nvPr/>
        </p:nvPicPr>
        <p:blipFill>
          <a:blip r:embed="rId2">
            <a:alphaModFix amt="44000"/>
          </a:blip>
          <a:stretch>
            <a:fillRect/>
          </a:stretch>
        </p:blipFill>
        <p:spPr>
          <a:xfrm rot="10800000" flipH="1">
            <a:off x="-2282665" y="3612326"/>
            <a:ext cx="3118233" cy="31183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27"/>
          <p:cNvGrpSpPr/>
          <p:nvPr/>
        </p:nvGrpSpPr>
        <p:grpSpPr>
          <a:xfrm>
            <a:off x="763071" y="7"/>
            <a:ext cx="1561035" cy="1561067"/>
            <a:chOff x="572303" y="5"/>
            <a:chExt cx="1170776" cy="1170800"/>
          </a:xfrm>
        </p:grpSpPr>
        <p:pic>
          <p:nvPicPr>
            <p:cNvPr id="246" name="Google Shape;246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911612" y="338937"/>
              <a:ext cx="492152" cy="492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 flipH="1">
              <a:off x="572303" y="5"/>
              <a:ext cx="1170776" cy="11708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851206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grpSp>
        <p:nvGrpSpPr>
          <p:cNvPr id="251" name="Google Shape;251;p28"/>
          <p:cNvGrpSpPr/>
          <p:nvPr/>
        </p:nvGrpSpPr>
        <p:grpSpPr>
          <a:xfrm>
            <a:off x="4288634" y="515409"/>
            <a:ext cx="7289879" cy="7583260"/>
            <a:chOff x="3216475" y="386556"/>
            <a:chExt cx="5467409" cy="5687445"/>
          </a:xfrm>
        </p:grpSpPr>
        <p:pic>
          <p:nvPicPr>
            <p:cNvPr id="252" name="Google Shape;252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45310" y="386556"/>
              <a:ext cx="738575" cy="738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16475" y="4648200"/>
              <a:ext cx="1425801" cy="14258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" name="Google Shape;254;p28"/>
          <p:cNvGrpSpPr/>
          <p:nvPr/>
        </p:nvGrpSpPr>
        <p:grpSpPr>
          <a:xfrm>
            <a:off x="3996133" y="254004"/>
            <a:ext cx="7843800" cy="6293595"/>
            <a:chOff x="2997100" y="190503"/>
            <a:chExt cx="5882850" cy="4720196"/>
          </a:xfrm>
        </p:grpSpPr>
        <p:pic>
          <p:nvPicPr>
            <p:cNvPr id="255" name="Google Shape;25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749250" y="190503"/>
              <a:ext cx="1130700" cy="1130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97100" y="4753977"/>
              <a:ext cx="156475" cy="1567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674000" y="1382127"/>
              <a:ext cx="156475" cy="15672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634999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/>
          <p:nvPr/>
        </p:nvSpPr>
        <p:spPr>
          <a:xfrm>
            <a:off x="-79533" y="-70700"/>
            <a:ext cx="12372800" cy="7008400"/>
          </a:xfrm>
          <a:prstGeom prst="rect">
            <a:avLst/>
          </a:prstGeom>
          <a:gradFill>
            <a:gsLst>
              <a:gs pos="0">
                <a:srgbClr val="7920B8"/>
              </a:gs>
              <a:gs pos="100000">
                <a:srgbClr val="2F104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Hind"/>
              <a:ea typeface="Hind"/>
              <a:cs typeface="Hind"/>
              <a:sym typeface="Hind"/>
            </a:endParaRPr>
          </a:p>
        </p:txBody>
      </p:sp>
      <p:grpSp>
        <p:nvGrpSpPr>
          <p:cNvPr id="260" name="Google Shape;260;p29"/>
          <p:cNvGrpSpPr/>
          <p:nvPr/>
        </p:nvGrpSpPr>
        <p:grpSpPr>
          <a:xfrm>
            <a:off x="2702536" y="2581743"/>
            <a:ext cx="8874367" cy="4963803"/>
            <a:chOff x="2026902" y="1936307"/>
            <a:chExt cx="6655775" cy="3722852"/>
          </a:xfrm>
        </p:grpSpPr>
        <p:pic>
          <p:nvPicPr>
            <p:cNvPr id="261" name="Google Shape;261;p29"/>
            <p:cNvPicPr preferRelativeResize="0"/>
            <p:nvPr/>
          </p:nvPicPr>
          <p:blipFill>
            <a:blip r:embed="rId2">
              <a:alphaModFix amt="44000"/>
            </a:blip>
            <a:stretch>
              <a:fillRect/>
            </a:stretch>
          </p:blipFill>
          <p:spPr>
            <a:xfrm>
              <a:off x="7774902" y="1936307"/>
              <a:ext cx="907775" cy="9077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9"/>
            <p:cNvPicPr preferRelativeResize="0"/>
            <p:nvPr/>
          </p:nvPicPr>
          <p:blipFill>
            <a:blip r:embed="rId2">
              <a:alphaModFix amt="44000"/>
            </a:blip>
            <a:stretch>
              <a:fillRect/>
            </a:stretch>
          </p:blipFill>
          <p:spPr>
            <a:xfrm>
              <a:off x="2026902" y="4751370"/>
              <a:ext cx="907775" cy="9077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3" name="Google Shape;263;p29"/>
          <p:cNvGrpSpPr/>
          <p:nvPr/>
        </p:nvGrpSpPr>
        <p:grpSpPr>
          <a:xfrm>
            <a:off x="3912902" y="2428951"/>
            <a:ext cx="8059169" cy="4339100"/>
            <a:chOff x="2934676" y="1821713"/>
            <a:chExt cx="6044377" cy="3254325"/>
          </a:xfrm>
        </p:grpSpPr>
        <p:pic>
          <p:nvPicPr>
            <p:cNvPr id="264" name="Google Shape;26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07346" y="1821713"/>
              <a:ext cx="571707" cy="57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2934676" y="4712462"/>
              <a:ext cx="363575" cy="3635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3790212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8488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964600" y="681367"/>
            <a:ext cx="10262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084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3467" y="593367"/>
            <a:ext cx="10285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3467" y="1536633"/>
            <a:ext cx="10285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765947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68" r:id="rId7"/>
    <p:sldLayoutId id="2147483670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4" r:id="rId20"/>
    <p:sldLayoutId id="2147483686" r:id="rId21"/>
    <p:sldLayoutId id="2147483687" r:id="rId22"/>
    <p:sldLayoutId id="2147483688" r:id="rId2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68" name="Google Shape;268;p30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35450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luspng.com/png-180028.html" TargetMode="External"/><Relationship Id="rId13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hyperlink" Target="https://iconape.com/c-logo-icon-svg-png.html" TargetMode="External"/><Relationship Id="rId2" Type="http://schemas.openxmlformats.org/officeDocument/2006/relationships/hyperlink" Target="https://logos-world.net/github-logo/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freepnglogo.com/image/figma-logo-black-and-white" TargetMode="Externa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hyperlink" Target="https://bitpave.com/" TargetMode="External"/><Relationship Id="rId4" Type="http://schemas.openxmlformats.org/officeDocument/2006/relationships/hyperlink" Target="https://www.vecteezy.com/png/18930718-discord-logo-png-discord-icon-transparent-png" TargetMode="External"/><Relationship Id="rId9" Type="http://schemas.openxmlformats.org/officeDocument/2006/relationships/image" Target="../media/image17.png"/><Relationship Id="rId14" Type="http://schemas.openxmlformats.org/officeDocument/2006/relationships/hyperlink" Target="https://pngimg.com/image/60304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pluspng.com/png-180028.html" TargetMode="Externa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hyperlink" Target="https://bitpave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hyperlink" Target="https://pluspng.com/png-180028.html" TargetMode="Externa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iconape.com/c-logo-icon-svg-png.html" TargetMode="External"/><Relationship Id="rId5" Type="http://schemas.openxmlformats.org/officeDocument/2006/relationships/image" Target="../media/image18.png"/><Relationship Id="rId4" Type="http://schemas.openxmlformats.org/officeDocument/2006/relationships/hyperlink" Target="https://bitpave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hyperlink" Target="https://pluspng.com/png-180028.html" TargetMode="Externa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iconape.com/c-logo-icon-svg-png.html" TargetMode="External"/><Relationship Id="rId5" Type="http://schemas.openxmlformats.org/officeDocument/2006/relationships/image" Target="../media/image18.png"/><Relationship Id="rId4" Type="http://schemas.openxmlformats.org/officeDocument/2006/relationships/hyperlink" Target="https://bitpave.com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slidesgo.com/theme/5g-wireless-technology-mk-plan#search-purple&amp;position-108&amp;results-2157&amp;rs=search" TargetMode="Externa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CFEA2-8BD3-4162-A14E-5A370755E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4654" y="3097096"/>
            <a:ext cx="10282691" cy="1021624"/>
          </a:xfrm>
        </p:spPr>
        <p:txBody>
          <a:bodyPr/>
          <a:lstStyle/>
          <a:p>
            <a:r>
              <a:rPr lang="en-GB" sz="6600" dirty="0"/>
              <a:t>Library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1118D-090B-4B78-A783-AB1F86640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402983"/>
            <a:ext cx="8010939" cy="455017"/>
          </a:xfrm>
        </p:spPr>
        <p:txBody>
          <a:bodyPr/>
          <a:lstStyle/>
          <a:p>
            <a:pPr marL="9525" indent="-9525"/>
            <a:r>
              <a:rPr lang="en-GB" sz="2100" dirty="0">
                <a:latin typeface="Oxanium"/>
              </a:rPr>
              <a:t>Made by:  Zoltán András Tóth, Máté Vágvölgyi, Soma István Zsömbörgi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0AED58-821E-40F9-96DD-6D5878250FD5}"/>
              </a:ext>
            </a:extLst>
          </p:cNvPr>
          <p:cNvSpPr txBox="1">
            <a:spLocks/>
          </p:cNvSpPr>
          <p:nvPr/>
        </p:nvSpPr>
        <p:spPr>
          <a:xfrm>
            <a:off x="886654" y="2134206"/>
            <a:ext cx="10282691" cy="102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667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pPr algn="ctr"/>
            <a:r>
              <a:rPr lang="en-GB" sz="6600" dirty="0"/>
              <a:t>LMS</a:t>
            </a:r>
          </a:p>
        </p:txBody>
      </p:sp>
    </p:spTree>
    <p:extLst>
      <p:ext uri="{BB962C8B-B14F-4D97-AF65-F5344CB8AC3E}">
        <p14:creationId xmlns:p14="http://schemas.microsoft.com/office/powerpoint/2010/main" val="3722155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1C8BAD0D-43DE-4316-957D-7E1B4FC0D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189" y="2980785"/>
            <a:ext cx="3929622" cy="896430"/>
          </a:xfrm>
        </p:spPr>
        <p:txBody>
          <a:bodyPr/>
          <a:lstStyle/>
          <a:p>
            <a:r>
              <a:rPr lang="en-GB" sz="5400" dirty="0"/>
              <a:t>The problem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7C5DCB7D-F93F-4AD0-8CE4-17A8B1CA7F30}"/>
              </a:ext>
            </a:extLst>
          </p:cNvPr>
          <p:cNvSpPr txBox="1">
            <a:spLocks/>
          </p:cNvSpPr>
          <p:nvPr/>
        </p:nvSpPr>
        <p:spPr>
          <a:xfrm>
            <a:off x="12810834" y="2007704"/>
            <a:ext cx="3065348" cy="58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/>
              <a:t>The solution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EDB4A5A8-ECFE-4865-BA36-945355C6E767}"/>
              </a:ext>
            </a:extLst>
          </p:cNvPr>
          <p:cNvSpPr txBox="1">
            <a:spLocks/>
          </p:cNvSpPr>
          <p:nvPr/>
        </p:nvSpPr>
        <p:spPr>
          <a:xfrm>
            <a:off x="12373512" y="2813865"/>
            <a:ext cx="3939993" cy="206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decided to create our own program to replace the obsolete software with managing books, users and all the borrowings.</a:t>
            </a:r>
          </a:p>
        </p:txBody>
      </p:sp>
    </p:spTree>
    <p:extLst>
      <p:ext uri="{BB962C8B-B14F-4D97-AF65-F5344CB8AC3E}">
        <p14:creationId xmlns:p14="http://schemas.microsoft.com/office/powerpoint/2010/main" val="4108073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1C8BAD0D-43DE-4316-957D-7E1B4FC0D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3325" y="2007704"/>
            <a:ext cx="3065348" cy="580553"/>
          </a:xfrm>
        </p:spPr>
        <p:txBody>
          <a:bodyPr/>
          <a:lstStyle/>
          <a:p>
            <a:r>
              <a:rPr lang="en-GB" sz="4000" dirty="0"/>
              <a:t>The problem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AD56862-9EFA-4BCF-AA67-2DDAA70FCC07}"/>
              </a:ext>
            </a:extLst>
          </p:cNvPr>
          <p:cNvSpPr txBox="1">
            <a:spLocks/>
          </p:cNvSpPr>
          <p:nvPr/>
        </p:nvSpPr>
        <p:spPr>
          <a:xfrm>
            <a:off x="4126003" y="2813865"/>
            <a:ext cx="3939993" cy="206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heard librarians say they are dissatisfied with the current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It was also inconvenient for us, students.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7C5DCB7D-F93F-4AD0-8CE4-17A8B1CA7F30}"/>
              </a:ext>
            </a:extLst>
          </p:cNvPr>
          <p:cNvSpPr txBox="1">
            <a:spLocks/>
          </p:cNvSpPr>
          <p:nvPr/>
        </p:nvSpPr>
        <p:spPr>
          <a:xfrm>
            <a:off x="12810834" y="2007704"/>
            <a:ext cx="3065348" cy="58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/>
              <a:t>The solution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EDB4A5A8-ECFE-4865-BA36-945355C6E767}"/>
              </a:ext>
            </a:extLst>
          </p:cNvPr>
          <p:cNvSpPr txBox="1">
            <a:spLocks/>
          </p:cNvSpPr>
          <p:nvPr/>
        </p:nvSpPr>
        <p:spPr>
          <a:xfrm>
            <a:off x="12373512" y="2813865"/>
            <a:ext cx="3939993" cy="206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decided to create our own program to replace the obsolete software with managing books, users and all the borrowings.</a:t>
            </a:r>
          </a:p>
        </p:txBody>
      </p:sp>
    </p:spTree>
    <p:extLst>
      <p:ext uri="{BB962C8B-B14F-4D97-AF65-F5344CB8AC3E}">
        <p14:creationId xmlns:p14="http://schemas.microsoft.com/office/powerpoint/2010/main" val="879818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1C8BAD0D-43DE-4316-957D-7E1B4FC0D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669" y="2007704"/>
            <a:ext cx="3065348" cy="580553"/>
          </a:xfrm>
        </p:spPr>
        <p:txBody>
          <a:bodyPr/>
          <a:lstStyle/>
          <a:p>
            <a:r>
              <a:rPr lang="en-GB" sz="4000" dirty="0"/>
              <a:t>The problem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AD56862-9EFA-4BCF-AA67-2DDAA70FCC07}"/>
              </a:ext>
            </a:extLst>
          </p:cNvPr>
          <p:cNvSpPr txBox="1">
            <a:spLocks/>
          </p:cNvSpPr>
          <p:nvPr/>
        </p:nvSpPr>
        <p:spPr>
          <a:xfrm>
            <a:off x="1556347" y="2813865"/>
            <a:ext cx="3939993" cy="206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heard librarians say they are dissatisfied with the current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It was also inconvenient for us, students.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7C5DCB7D-F93F-4AD0-8CE4-17A8B1CA7F30}"/>
              </a:ext>
            </a:extLst>
          </p:cNvPr>
          <p:cNvSpPr txBox="1">
            <a:spLocks/>
          </p:cNvSpPr>
          <p:nvPr/>
        </p:nvSpPr>
        <p:spPr>
          <a:xfrm>
            <a:off x="7115634" y="2007704"/>
            <a:ext cx="3065348" cy="58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/>
              <a:t>The solution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EDB4A5A8-ECFE-4865-BA36-945355C6E767}"/>
              </a:ext>
            </a:extLst>
          </p:cNvPr>
          <p:cNvSpPr txBox="1">
            <a:spLocks/>
          </p:cNvSpPr>
          <p:nvPr/>
        </p:nvSpPr>
        <p:spPr>
          <a:xfrm>
            <a:off x="6678312" y="2813865"/>
            <a:ext cx="3939993" cy="206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decided to create our own program to replace the obsolete software with managing books, users and all the borrowings.</a:t>
            </a:r>
          </a:p>
        </p:txBody>
      </p:sp>
    </p:spTree>
    <p:extLst>
      <p:ext uri="{BB962C8B-B14F-4D97-AF65-F5344CB8AC3E}">
        <p14:creationId xmlns:p14="http://schemas.microsoft.com/office/powerpoint/2010/main" val="4074748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4470000" y="2902400"/>
            <a:ext cx="3252000" cy="10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5400" dirty="0">
                <a:effectLst/>
              </a:rPr>
              <a:t>Teamwork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03BDB76-9546-4F89-BAB1-05E46EA83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737531" y="2007704"/>
            <a:ext cx="3065348" cy="580553"/>
          </a:xfrm>
        </p:spPr>
        <p:txBody>
          <a:bodyPr/>
          <a:lstStyle/>
          <a:p>
            <a:r>
              <a:rPr lang="en-GB" sz="4000" dirty="0"/>
              <a:t>The problem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15121E5-930E-4296-9EA0-CDB722C2E0DA}"/>
              </a:ext>
            </a:extLst>
          </p:cNvPr>
          <p:cNvSpPr txBox="1">
            <a:spLocks/>
          </p:cNvSpPr>
          <p:nvPr/>
        </p:nvSpPr>
        <p:spPr>
          <a:xfrm>
            <a:off x="-4174853" y="2813865"/>
            <a:ext cx="3939993" cy="206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heard librarians say they are dissatisfied with the current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It was also inconvenient for us, students.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C6121FB8-A400-4C70-A375-A257ECFD28C2}"/>
              </a:ext>
            </a:extLst>
          </p:cNvPr>
          <p:cNvSpPr txBox="1">
            <a:spLocks/>
          </p:cNvSpPr>
          <p:nvPr/>
        </p:nvSpPr>
        <p:spPr>
          <a:xfrm>
            <a:off x="12704447" y="2007704"/>
            <a:ext cx="3065348" cy="58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/>
              <a:t>The solution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B737A99-789F-49B9-B961-892A1709C16D}"/>
              </a:ext>
            </a:extLst>
          </p:cNvPr>
          <p:cNvSpPr txBox="1">
            <a:spLocks/>
          </p:cNvSpPr>
          <p:nvPr/>
        </p:nvSpPr>
        <p:spPr>
          <a:xfrm>
            <a:off x="12267125" y="2813865"/>
            <a:ext cx="3939993" cy="206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decided to create our own program to replace the obsolete software with managing books, users and all the borrowings.</a:t>
            </a:r>
          </a:p>
        </p:txBody>
      </p:sp>
    </p:spTree>
    <p:extLst>
      <p:ext uri="{BB962C8B-B14F-4D97-AF65-F5344CB8AC3E}">
        <p14:creationId xmlns:p14="http://schemas.microsoft.com/office/powerpoint/2010/main" val="1998340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637826" y="298102"/>
            <a:ext cx="262279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Teamwork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D740177-E2ED-47F4-A372-155FF5715CBC}"/>
              </a:ext>
            </a:extLst>
          </p:cNvPr>
          <p:cNvSpPr txBox="1">
            <a:spLocks/>
          </p:cNvSpPr>
          <p:nvPr/>
        </p:nvSpPr>
        <p:spPr>
          <a:xfrm>
            <a:off x="7590095" y="1374476"/>
            <a:ext cx="1916557" cy="173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en-GB" sz="2400" dirty="0"/>
              <a:t>Applications: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Discord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Figma</a:t>
            </a:r>
          </a:p>
        </p:txBody>
      </p:sp>
      <p:pic>
        <p:nvPicPr>
          <p:cNvPr id="1026" name="Picture 2" descr="GitHub Logo, symbol, meaning, history, PNG, brand">
            <a:hlinkClick r:id="rId2"/>
            <a:extLst>
              <a:ext uri="{FF2B5EF4-FFF2-40B4-BE49-F238E27FC236}">
                <a16:creationId xmlns:a16="http://schemas.microsoft.com/office/drawing/2014/main" id="{093EAFF5-AE2C-4552-B99C-2124CFCFC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383" y="3669032"/>
            <a:ext cx="1813563" cy="10201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iscord Logo PNGs for Free Download">
            <a:hlinkClick r:id="rId4"/>
            <a:extLst>
              <a:ext uri="{FF2B5EF4-FFF2-40B4-BE49-F238E27FC236}">
                <a16:creationId xmlns:a16="http://schemas.microsoft.com/office/drawing/2014/main" id="{F971B81D-D18A-4F4B-83E3-6572C0B46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635" y="3428998"/>
            <a:ext cx="1398033" cy="13980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igma Logo PNG image for Free Download">
            <a:hlinkClick r:id="rId6"/>
            <a:extLst>
              <a:ext uri="{FF2B5EF4-FFF2-40B4-BE49-F238E27FC236}">
                <a16:creationId xmlns:a16="http://schemas.microsoft.com/office/drawing/2014/main" id="{E9DDA292-18C4-455A-8EFE-9CC0FACCA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745" y="5166448"/>
            <a:ext cx="2066401" cy="5696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F534027E-7418-4E7A-9DD4-8D1973B4EEAE}"/>
              </a:ext>
            </a:extLst>
          </p:cNvPr>
          <p:cNvSpPr txBox="1">
            <a:spLocks/>
          </p:cNvSpPr>
          <p:nvPr/>
        </p:nvSpPr>
        <p:spPr>
          <a:xfrm>
            <a:off x="806639" y="1374476"/>
            <a:ext cx="6297886" cy="198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en-GB" sz="2400" dirty="0"/>
              <a:t>Allocation of tasks: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Frontend: Zoltán Tóth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Backend: Soma Zsömbörgi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Desktop Application: Máté Vágvölgyi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Database: Soma Zsömbörgi, Máté Vágvölgyi</a:t>
            </a:r>
          </a:p>
        </p:txBody>
      </p:sp>
      <p:pic>
        <p:nvPicPr>
          <p:cNvPr id="2050" name="Picture 2" descr="Collection of React Logo PNG. | PlusPNG">
            <a:hlinkClick r:id="rId8"/>
            <a:extLst>
              <a:ext uri="{FF2B5EF4-FFF2-40B4-BE49-F238E27FC236}">
                <a16:creationId xmlns:a16="http://schemas.microsoft.com/office/drawing/2014/main" id="{32F4AC95-BFAB-4467-866A-3EA55D80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90" y="3429000"/>
            <a:ext cx="2485068" cy="13980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itpave | Portal">
            <a:hlinkClick r:id="rId10"/>
            <a:extLst>
              <a:ext uri="{FF2B5EF4-FFF2-40B4-BE49-F238E27FC236}">
                <a16:creationId xmlns:a16="http://schemas.microsoft.com/office/drawing/2014/main" id="{9673F0D1-C7BE-4DE2-A27B-09879DBC0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633" y="4966321"/>
            <a:ext cx="1975196" cy="10344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# Download png">
            <a:hlinkClick r:id="rId12"/>
            <a:extLst>
              <a:ext uri="{FF2B5EF4-FFF2-40B4-BE49-F238E27FC236}">
                <a16:creationId xmlns:a16="http://schemas.microsoft.com/office/drawing/2014/main" id="{07C42090-C1A5-459D-995E-2C03EB392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356" y="3530569"/>
            <a:ext cx="1095751" cy="10957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MySQL logo PNG transparent image download, size: 2800x2800px">
            <a:hlinkClick r:id="rId14"/>
            <a:extLst>
              <a:ext uri="{FF2B5EF4-FFF2-40B4-BE49-F238E27FC236}">
                <a16:creationId xmlns:a16="http://schemas.microsoft.com/office/drawing/2014/main" id="{4369A9D7-104D-4B41-A709-26DB49EDA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026" y="4128015"/>
            <a:ext cx="2308860" cy="23088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55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4636702" y="2955699"/>
            <a:ext cx="2918596" cy="94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5400" dirty="0"/>
              <a:t>Base idea</a:t>
            </a:r>
          </a:p>
        </p:txBody>
      </p:sp>
    </p:spTree>
    <p:extLst>
      <p:ext uri="{BB962C8B-B14F-4D97-AF65-F5344CB8AC3E}">
        <p14:creationId xmlns:p14="http://schemas.microsoft.com/office/powerpoint/2010/main" val="3300616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959984" y="59263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Base idea</a:t>
            </a:r>
          </a:p>
        </p:txBody>
      </p:sp>
      <p:pic>
        <p:nvPicPr>
          <p:cNvPr id="2050" name="Picture 2" descr="Collection of React Logo PNG. | PlusPNG">
            <a:hlinkClick r:id="rId2"/>
            <a:extLst>
              <a:ext uri="{FF2B5EF4-FFF2-40B4-BE49-F238E27FC236}">
                <a16:creationId xmlns:a16="http://schemas.microsoft.com/office/drawing/2014/main" id="{32F4AC95-BFAB-4467-866A-3EA55D80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578" y="3930729"/>
            <a:ext cx="2485068" cy="13980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itpave | Portal">
            <a:hlinkClick r:id="rId4"/>
            <a:extLst>
              <a:ext uri="{FF2B5EF4-FFF2-40B4-BE49-F238E27FC236}">
                <a16:creationId xmlns:a16="http://schemas.microsoft.com/office/drawing/2014/main" id="{9673F0D1-C7BE-4DE2-A27B-09879DBC0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7586" y="4112542"/>
            <a:ext cx="1975196" cy="10344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9F5E86A-3220-407C-A85F-9E0D9A6E6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3462" y="2374683"/>
            <a:ext cx="1561300" cy="537600"/>
          </a:xfrm>
          <a:effectLst>
            <a:glow rad="63500">
              <a:schemeClr val="accent1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GB" dirty="0"/>
              <a:t>Frontend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36D9D7C-7CF8-409A-92DE-73355EBAB6D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700512" y="3013573"/>
            <a:ext cx="2907200" cy="1181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Website for members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Register to reserve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Verify email address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D81324D-A70D-4CE9-97DE-CA137D964899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2367977" y="3013573"/>
            <a:ext cx="3094414" cy="1181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Connection between Frontend and Database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B5E1433-AA7C-4569-952E-5905D9E97FB3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13134534" y="2366058"/>
            <a:ext cx="1561300" cy="537600"/>
          </a:xfrm>
        </p:spPr>
        <p:txBody>
          <a:bodyPr/>
          <a:lstStyle/>
          <a:p>
            <a:r>
              <a:rPr lang="en-GB" dirty="0"/>
              <a:t>Backend</a:t>
            </a:r>
          </a:p>
        </p:txBody>
      </p:sp>
    </p:spTree>
    <p:extLst>
      <p:ext uri="{BB962C8B-B14F-4D97-AF65-F5344CB8AC3E}">
        <p14:creationId xmlns:p14="http://schemas.microsoft.com/office/powerpoint/2010/main" val="2902789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959984" y="59263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Base idea</a:t>
            </a:r>
          </a:p>
        </p:txBody>
      </p:sp>
      <p:pic>
        <p:nvPicPr>
          <p:cNvPr id="2050" name="Picture 2" descr="Collection of React Logo PNG. | PlusPNG">
            <a:hlinkClick r:id="rId2"/>
            <a:extLst>
              <a:ext uri="{FF2B5EF4-FFF2-40B4-BE49-F238E27FC236}">
                <a16:creationId xmlns:a16="http://schemas.microsoft.com/office/drawing/2014/main" id="{32F4AC95-BFAB-4467-866A-3EA55D80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506" y="3930729"/>
            <a:ext cx="2485068" cy="13980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itpave | Portal">
            <a:hlinkClick r:id="rId4"/>
            <a:extLst>
              <a:ext uri="{FF2B5EF4-FFF2-40B4-BE49-F238E27FC236}">
                <a16:creationId xmlns:a16="http://schemas.microsoft.com/office/drawing/2014/main" id="{9673F0D1-C7BE-4DE2-A27B-09879DBC0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926" y="4112542"/>
            <a:ext cx="1975196" cy="10344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# Download png">
            <a:hlinkClick r:id="rId6"/>
            <a:extLst>
              <a:ext uri="{FF2B5EF4-FFF2-40B4-BE49-F238E27FC236}">
                <a16:creationId xmlns:a16="http://schemas.microsoft.com/office/drawing/2014/main" id="{07C42090-C1A5-459D-995E-2C03EB392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1424" y="4397353"/>
            <a:ext cx="1095751" cy="10957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9F5E86A-3220-407C-A85F-9E0D9A6E6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4390" y="2374683"/>
            <a:ext cx="1561300" cy="537600"/>
          </a:xfrm>
          <a:effectLst>
            <a:glow rad="63500">
              <a:schemeClr val="accent1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GB" dirty="0"/>
              <a:t>Frontend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36D9D7C-7CF8-409A-92DE-73355EBAB6D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981440" y="3013573"/>
            <a:ext cx="2907200" cy="1181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Website for members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Register to reserve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Verify email address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D81324D-A70D-4CE9-97DE-CA137D964899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348317" y="3013573"/>
            <a:ext cx="3094414" cy="1181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Connection between Frontend and Database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537D88B-98F6-410C-AE89-FA328834DAD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373816" y="3013573"/>
            <a:ext cx="3350968" cy="1181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Software for admins and librarians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Application for managing a physical library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B5E1433-AA7C-4569-952E-5905D9E97FB3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7114874" y="2366058"/>
            <a:ext cx="1561300" cy="537600"/>
          </a:xfrm>
        </p:spPr>
        <p:txBody>
          <a:bodyPr/>
          <a:lstStyle/>
          <a:p>
            <a:r>
              <a:rPr lang="en-GB" dirty="0"/>
              <a:t>Backend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EC6FC0DA-E229-44CD-984C-7AC0D377C4BA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12963549" y="2374683"/>
            <a:ext cx="2171500" cy="537600"/>
          </a:xfrm>
          <a:effectLst>
            <a:glow rad="63500">
              <a:schemeClr val="accent1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GB" dirty="0"/>
              <a:t>LMS Desktop</a:t>
            </a:r>
          </a:p>
        </p:txBody>
      </p:sp>
    </p:spTree>
    <p:extLst>
      <p:ext uri="{BB962C8B-B14F-4D97-AF65-F5344CB8AC3E}">
        <p14:creationId xmlns:p14="http://schemas.microsoft.com/office/powerpoint/2010/main" val="3042742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959984" y="59263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Base idea</a:t>
            </a:r>
          </a:p>
        </p:txBody>
      </p:sp>
      <p:pic>
        <p:nvPicPr>
          <p:cNvPr id="2050" name="Picture 2" descr="Collection of React Logo PNG. | PlusPNG">
            <a:hlinkClick r:id="rId2"/>
            <a:extLst>
              <a:ext uri="{FF2B5EF4-FFF2-40B4-BE49-F238E27FC236}">
                <a16:creationId xmlns:a16="http://schemas.microsoft.com/office/drawing/2014/main" id="{32F4AC95-BFAB-4467-866A-3EA55D80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966" y="3930729"/>
            <a:ext cx="2485068" cy="13980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itpave | Portal">
            <a:hlinkClick r:id="rId4"/>
            <a:extLst>
              <a:ext uri="{FF2B5EF4-FFF2-40B4-BE49-F238E27FC236}">
                <a16:creationId xmlns:a16="http://schemas.microsoft.com/office/drawing/2014/main" id="{9673F0D1-C7BE-4DE2-A27B-09879DBC0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386" y="4112542"/>
            <a:ext cx="1975196" cy="10344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# Download png">
            <a:hlinkClick r:id="rId6"/>
            <a:extLst>
              <a:ext uri="{FF2B5EF4-FFF2-40B4-BE49-F238E27FC236}">
                <a16:creationId xmlns:a16="http://schemas.microsoft.com/office/drawing/2014/main" id="{07C42090-C1A5-459D-995E-2C03EB392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8624" y="4397353"/>
            <a:ext cx="1095751" cy="10957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9F5E86A-3220-407C-A85F-9E0D9A6E6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4850" y="2374683"/>
            <a:ext cx="1561300" cy="537600"/>
          </a:xfrm>
          <a:effectLst>
            <a:glow rad="63500">
              <a:schemeClr val="accent1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GB" dirty="0"/>
              <a:t>Frontend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36D9D7C-7CF8-409A-92DE-73355EBAB6D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181900" y="3013573"/>
            <a:ext cx="2907200" cy="1181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Website for members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Register to reserve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Verify email address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D81324D-A70D-4CE9-97DE-CA137D964899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548777" y="3013573"/>
            <a:ext cx="3094414" cy="1181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Connection between Frontend and Database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537D88B-98F6-410C-AE89-FA328834DAD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881016" y="3013573"/>
            <a:ext cx="3350968" cy="1181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Software for admins and librarians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Application for managing a physical library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B5E1433-AA7C-4569-952E-5905D9E97FB3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315334" y="2366058"/>
            <a:ext cx="1561300" cy="537600"/>
          </a:xfrm>
        </p:spPr>
        <p:txBody>
          <a:bodyPr/>
          <a:lstStyle/>
          <a:p>
            <a:r>
              <a:rPr lang="en-GB" dirty="0"/>
              <a:t>Backend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EC6FC0DA-E229-44CD-984C-7AC0D377C4BA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8470749" y="2374683"/>
            <a:ext cx="2171500" cy="537600"/>
          </a:xfrm>
          <a:effectLst>
            <a:glow rad="63500">
              <a:schemeClr val="accent1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GB" dirty="0"/>
              <a:t>LMS Desktop</a:t>
            </a:r>
          </a:p>
        </p:txBody>
      </p:sp>
    </p:spTree>
    <p:extLst>
      <p:ext uri="{BB962C8B-B14F-4D97-AF65-F5344CB8AC3E}">
        <p14:creationId xmlns:p14="http://schemas.microsoft.com/office/powerpoint/2010/main" val="1161576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4603906" y="2902400"/>
            <a:ext cx="2984189" cy="10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5400" dirty="0"/>
              <a:t>Database</a:t>
            </a:r>
            <a:endParaRPr lang="en-GB" sz="5400" dirty="0"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5FC882-A614-42D7-AD43-527B0950A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38" y="7020000"/>
            <a:ext cx="10374725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1368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283200" y="186230"/>
            <a:ext cx="2180082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Database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D740177-E2ED-47F4-A372-155FF5715CBC}"/>
              </a:ext>
            </a:extLst>
          </p:cNvPr>
          <p:cNvSpPr txBox="1">
            <a:spLocks/>
          </p:cNvSpPr>
          <p:nvPr/>
        </p:nvSpPr>
        <p:spPr>
          <a:xfrm>
            <a:off x="4126003" y="1243968"/>
            <a:ext cx="3939993" cy="211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en-GB" sz="2400" dirty="0"/>
              <a:t>Tables: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11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2 bridging 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1 long term storage 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Cascade on deletion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FCDBD05-BD20-48A8-9BCB-0B4F4587118F}"/>
              </a:ext>
            </a:extLst>
          </p:cNvPr>
          <p:cNvSpPr txBox="1">
            <a:spLocks/>
          </p:cNvSpPr>
          <p:nvPr/>
        </p:nvSpPr>
        <p:spPr>
          <a:xfrm>
            <a:off x="4126002" y="3191449"/>
            <a:ext cx="3939993" cy="211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en-GB" sz="2400" dirty="0"/>
              <a:t>Triggers: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Delete books if bridging tables are deleted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Copy and update borrowings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10347B7-3508-42EA-9B2B-7B3AA5630813}"/>
              </a:ext>
            </a:extLst>
          </p:cNvPr>
          <p:cNvSpPr txBox="1">
            <a:spLocks/>
          </p:cNvSpPr>
          <p:nvPr/>
        </p:nvSpPr>
        <p:spPr>
          <a:xfrm>
            <a:off x="4126001" y="5122131"/>
            <a:ext cx="4011760" cy="98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en-GB" sz="2400" dirty="0"/>
              <a:t>Events: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Delete expired reservations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3D6887CA-E829-4E38-812F-2B09B638D354}"/>
              </a:ext>
            </a:extLst>
          </p:cNvPr>
          <p:cNvSpPr txBox="1">
            <a:spLocks/>
          </p:cNvSpPr>
          <p:nvPr/>
        </p:nvSpPr>
        <p:spPr>
          <a:xfrm>
            <a:off x="2266213" y="186230"/>
            <a:ext cx="2081852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 - MySQL</a:t>
            </a:r>
          </a:p>
        </p:txBody>
      </p:sp>
    </p:spTree>
    <p:extLst>
      <p:ext uri="{BB962C8B-B14F-4D97-AF65-F5344CB8AC3E}">
        <p14:creationId xmlns:p14="http://schemas.microsoft.com/office/powerpoint/2010/main" val="2028585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F9A6822-1AA9-4E8E-8D80-093D90B41D28}"/>
              </a:ext>
            </a:extLst>
          </p:cNvPr>
          <p:cNvSpPr txBox="1">
            <a:spLocks/>
          </p:cNvSpPr>
          <p:nvPr/>
        </p:nvSpPr>
        <p:spPr>
          <a:xfrm>
            <a:off x="5021610" y="3047200"/>
            <a:ext cx="214878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628790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960000" y="593367"/>
            <a:ext cx="575322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Functions of the Website -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D740177-E2ED-47F4-A372-155FF5715CBC}"/>
              </a:ext>
            </a:extLst>
          </p:cNvPr>
          <p:cNvSpPr txBox="1">
            <a:spLocks/>
          </p:cNvSpPr>
          <p:nvPr/>
        </p:nvSpPr>
        <p:spPr>
          <a:xfrm>
            <a:off x="6412121" y="2732875"/>
            <a:ext cx="3368217" cy="244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Register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Finalize registration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Verification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Search in available 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User’s reservations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User’s borrowings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F9A6822-1AA9-4E8E-8D80-093D90B41D28}"/>
              </a:ext>
            </a:extLst>
          </p:cNvPr>
          <p:cNvSpPr txBox="1">
            <a:spLocks/>
          </p:cNvSpPr>
          <p:nvPr/>
        </p:nvSpPr>
        <p:spPr>
          <a:xfrm>
            <a:off x="6606420" y="603886"/>
            <a:ext cx="213438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Frontend</a:t>
            </a:r>
          </a:p>
        </p:txBody>
      </p:sp>
      <p:pic>
        <p:nvPicPr>
          <p:cNvPr id="14" name="Kép 1">
            <a:extLst>
              <a:ext uri="{FF2B5EF4-FFF2-40B4-BE49-F238E27FC236}">
                <a16:creationId xmlns:a16="http://schemas.microsoft.com/office/drawing/2014/main" id="{83A10EF5-9E1F-47B3-B669-306CD552A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52501" y="1700880"/>
            <a:ext cx="3368217" cy="46077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1662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960000" y="593367"/>
            <a:ext cx="575322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Functions of the Website -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F9A6822-1AA9-4E8E-8D80-093D90B41D28}"/>
              </a:ext>
            </a:extLst>
          </p:cNvPr>
          <p:cNvSpPr txBox="1">
            <a:spLocks/>
          </p:cNvSpPr>
          <p:nvPr/>
        </p:nvSpPr>
        <p:spPr>
          <a:xfrm>
            <a:off x="6606420" y="603886"/>
            <a:ext cx="213438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Frontend</a:t>
            </a:r>
          </a:p>
        </p:txBody>
      </p:sp>
      <p:pic>
        <p:nvPicPr>
          <p:cNvPr id="8" name="Kép 1">
            <a:extLst>
              <a:ext uri="{FF2B5EF4-FFF2-40B4-BE49-F238E27FC236}">
                <a16:creationId xmlns:a16="http://schemas.microsoft.com/office/drawing/2014/main" id="{19D3A00C-7AD0-414F-99BE-CF084783E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52501" y="1700880"/>
            <a:ext cx="3368217" cy="46077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249FBFC3-ED50-424F-91A9-B288E7A5B7AC}"/>
              </a:ext>
            </a:extLst>
          </p:cNvPr>
          <p:cNvSpPr txBox="1">
            <a:spLocks/>
          </p:cNvSpPr>
          <p:nvPr/>
        </p:nvSpPr>
        <p:spPr>
          <a:xfrm>
            <a:off x="6412121" y="3106803"/>
            <a:ext cx="3916941" cy="179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JWT </a:t>
            </a:r>
            <a:r>
              <a:rPr lang="en-GB" dirty="0" err="1"/>
              <a:t>Webtoken</a:t>
            </a:r>
            <a:r>
              <a:rPr lang="en-GB" dirty="0"/>
              <a:t> for authorization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Store token in session storage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Forgot password option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Get method with </a:t>
            </a:r>
            <a:r>
              <a:rPr lang="en-GB" dirty="0" err="1"/>
              <a:t>Axios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78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960000" y="593367"/>
            <a:ext cx="575322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Functions of the Website -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D740177-E2ED-47F4-A372-155FF5715CBC}"/>
              </a:ext>
            </a:extLst>
          </p:cNvPr>
          <p:cNvSpPr txBox="1">
            <a:spLocks/>
          </p:cNvSpPr>
          <p:nvPr/>
        </p:nvSpPr>
        <p:spPr>
          <a:xfrm>
            <a:off x="1455543" y="2985699"/>
            <a:ext cx="4762133" cy="184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Post method using </a:t>
            </a:r>
            <a:r>
              <a:rPr lang="en-GB" dirty="0" err="1"/>
              <a:t>Axios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Finalize registration option</a:t>
            </a:r>
          </a:p>
          <a:p>
            <a:pPr marL="809625" lvl="1" indent="-342900" algn="l">
              <a:buFont typeface="Arial" panose="020B0604020202020204" pitchFamily="34" charset="0"/>
              <a:buChar char="•"/>
            </a:pPr>
            <a:r>
              <a:rPr lang="en-GB" sz="2100" dirty="0">
                <a:latin typeface="Oxanium"/>
              </a:rPr>
              <a:t>If a librarian added the user, they can finalize their registration</a:t>
            </a:r>
          </a:p>
          <a:p>
            <a:pPr marL="0" indent="-438150">
              <a:buFont typeface="Arial" panose="020B0604020202020204" pitchFamily="34" charset="0"/>
              <a:buChar char="•"/>
            </a:pPr>
            <a:r>
              <a:rPr lang="en-GB" dirty="0"/>
              <a:t>Verification</a:t>
            </a:r>
            <a:endParaRPr lang="en-GB" sz="2100" dirty="0">
              <a:latin typeface="Oxanium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F9A6822-1AA9-4E8E-8D80-093D90B41D28}"/>
              </a:ext>
            </a:extLst>
          </p:cNvPr>
          <p:cNvSpPr txBox="1">
            <a:spLocks/>
          </p:cNvSpPr>
          <p:nvPr/>
        </p:nvSpPr>
        <p:spPr>
          <a:xfrm>
            <a:off x="6606420" y="603886"/>
            <a:ext cx="213438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Frontend</a:t>
            </a:r>
          </a:p>
        </p:txBody>
      </p:sp>
      <p:pic>
        <p:nvPicPr>
          <p:cNvPr id="8" name="Kép 3">
            <a:extLst>
              <a:ext uri="{FF2B5EF4-FFF2-40B4-BE49-F238E27FC236}">
                <a16:creationId xmlns:a16="http://schemas.microsoft.com/office/drawing/2014/main" id="{595AD304-776D-4B06-8B58-60FB7F1BE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9889" y="1566659"/>
            <a:ext cx="2327563" cy="46874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9243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960000" y="593367"/>
            <a:ext cx="575322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Functions of the Website -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F9A6822-1AA9-4E8E-8D80-093D90B41D28}"/>
              </a:ext>
            </a:extLst>
          </p:cNvPr>
          <p:cNvSpPr txBox="1">
            <a:spLocks/>
          </p:cNvSpPr>
          <p:nvPr/>
        </p:nvSpPr>
        <p:spPr>
          <a:xfrm>
            <a:off x="6606420" y="603886"/>
            <a:ext cx="213438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Frontend</a:t>
            </a:r>
          </a:p>
        </p:txBody>
      </p:sp>
      <p:pic>
        <p:nvPicPr>
          <p:cNvPr id="11" name="Kép 9">
            <a:extLst>
              <a:ext uri="{FF2B5EF4-FFF2-40B4-BE49-F238E27FC236}">
                <a16:creationId xmlns:a16="http://schemas.microsoft.com/office/drawing/2014/main" id="{C944FE48-E7C9-415C-85CC-D3133968B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0526" y="1498962"/>
            <a:ext cx="10770948" cy="51929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1529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960000" y="593367"/>
            <a:ext cx="575322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Functions of the Website -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F9A6822-1AA9-4E8E-8D80-093D90B41D28}"/>
              </a:ext>
            </a:extLst>
          </p:cNvPr>
          <p:cNvSpPr txBox="1">
            <a:spLocks/>
          </p:cNvSpPr>
          <p:nvPr/>
        </p:nvSpPr>
        <p:spPr>
          <a:xfrm>
            <a:off x="6606420" y="603886"/>
            <a:ext cx="213438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Frontend</a:t>
            </a:r>
          </a:p>
        </p:txBody>
      </p:sp>
      <p:pic>
        <p:nvPicPr>
          <p:cNvPr id="11" name="Kép 9">
            <a:extLst>
              <a:ext uri="{FF2B5EF4-FFF2-40B4-BE49-F238E27FC236}">
                <a16:creationId xmlns:a16="http://schemas.microsoft.com/office/drawing/2014/main" id="{C944FE48-E7C9-415C-85CC-D3133968B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729" y="2275250"/>
            <a:ext cx="6226142" cy="30245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9B58EB0-A9CB-41AF-9755-775A2FDE622A}"/>
              </a:ext>
            </a:extLst>
          </p:cNvPr>
          <p:cNvSpPr txBox="1">
            <a:spLocks/>
          </p:cNvSpPr>
          <p:nvPr/>
        </p:nvSpPr>
        <p:spPr>
          <a:xfrm>
            <a:off x="1404197" y="2556491"/>
            <a:ext cx="3705306" cy="274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100" dirty="0">
                <a:latin typeface="Oxanium"/>
              </a:rPr>
              <a:t>Live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Filter books</a:t>
            </a:r>
          </a:p>
          <a:p>
            <a:pPr marL="719138" lvl="1" indent="-342900" algn="l">
              <a:buFont typeface="Arial" panose="020B0604020202020204" pitchFamily="34" charset="0"/>
              <a:buChar char="•"/>
            </a:pPr>
            <a:r>
              <a:rPr lang="en-GB" sz="2100" dirty="0">
                <a:latin typeface="Oxanium"/>
              </a:rPr>
              <a:t>Author</a:t>
            </a:r>
          </a:p>
          <a:p>
            <a:pPr marL="719138" lvl="1" indent="-342900" algn="l">
              <a:buFont typeface="Arial" panose="020B0604020202020204" pitchFamily="34" charset="0"/>
              <a:buChar char="•"/>
            </a:pPr>
            <a:r>
              <a:rPr lang="en-GB" sz="2100" dirty="0">
                <a:latin typeface="Oxanium"/>
              </a:rPr>
              <a:t>Publisher</a:t>
            </a:r>
          </a:p>
          <a:p>
            <a:pPr marL="719138" lvl="1" indent="-342900" algn="l">
              <a:buFont typeface="Arial" panose="020B0604020202020204" pitchFamily="34" charset="0"/>
              <a:buChar char="•"/>
            </a:pPr>
            <a:r>
              <a:rPr lang="en-GB" sz="2100" dirty="0">
                <a:latin typeface="Oxanium"/>
              </a:rPr>
              <a:t>Publication year</a:t>
            </a:r>
          </a:p>
          <a:p>
            <a:pPr marL="719138" lvl="1" indent="-342900" algn="l">
              <a:buFont typeface="Arial" panose="020B0604020202020204" pitchFamily="34" charset="0"/>
              <a:buChar char="•"/>
            </a:pPr>
            <a:r>
              <a:rPr lang="en-GB" sz="2100" dirty="0">
                <a:latin typeface="Oxanium"/>
              </a:rPr>
              <a:t>Category</a:t>
            </a:r>
          </a:p>
          <a:p>
            <a:pPr marL="354013" indent="-349250">
              <a:buFont typeface="Arial" panose="020B0604020202020204" pitchFamily="34" charset="0"/>
              <a:buChar char="•"/>
            </a:pPr>
            <a:r>
              <a:rPr lang="en-GB" dirty="0"/>
              <a:t>Reserve books if logged in</a:t>
            </a:r>
          </a:p>
        </p:txBody>
      </p:sp>
    </p:spTree>
    <p:extLst>
      <p:ext uri="{BB962C8B-B14F-4D97-AF65-F5344CB8AC3E}">
        <p14:creationId xmlns:p14="http://schemas.microsoft.com/office/powerpoint/2010/main" val="1970982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960000" y="593367"/>
            <a:ext cx="575322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What did we use?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9B58EB0-A9CB-41AF-9755-775A2FDE622A}"/>
              </a:ext>
            </a:extLst>
          </p:cNvPr>
          <p:cNvSpPr txBox="1">
            <a:spLocks/>
          </p:cNvSpPr>
          <p:nvPr/>
        </p:nvSpPr>
        <p:spPr>
          <a:xfrm>
            <a:off x="1978155" y="2247587"/>
            <a:ext cx="2595243" cy="2762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React Router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useState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useEffect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useLocation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useNavigate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createContext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useRef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useMemo</a:t>
            </a:r>
            <a:endParaRPr lang="en-GB" dirty="0"/>
          </a:p>
        </p:txBody>
      </p:sp>
      <p:pic>
        <p:nvPicPr>
          <p:cNvPr id="7" name="Kép 5">
            <a:extLst>
              <a:ext uri="{FF2B5EF4-FFF2-40B4-BE49-F238E27FC236}">
                <a16:creationId xmlns:a16="http://schemas.microsoft.com/office/drawing/2014/main" id="{BC3D199C-E760-4169-AD6C-85AE4C8A4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53" y="1356967"/>
            <a:ext cx="6272007" cy="45436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0780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960000" y="593367"/>
            <a:ext cx="575322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What did we use?</a:t>
            </a:r>
          </a:p>
        </p:txBody>
      </p:sp>
      <p:pic>
        <p:nvPicPr>
          <p:cNvPr id="8" name="Kép 6">
            <a:extLst>
              <a:ext uri="{FF2B5EF4-FFF2-40B4-BE49-F238E27FC236}">
                <a16:creationId xmlns:a16="http://schemas.microsoft.com/office/drawing/2014/main" id="{4B1512FD-6FB1-430E-B48F-F32D74D56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800" y="3429000"/>
            <a:ext cx="3409950" cy="3905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69330DA2-49A9-42FD-9056-366A3028D6C5}"/>
              </a:ext>
            </a:extLst>
          </p:cNvPr>
          <p:cNvSpPr txBox="1">
            <a:spLocks/>
          </p:cNvSpPr>
          <p:nvPr/>
        </p:nvSpPr>
        <p:spPr>
          <a:xfrm>
            <a:off x="5284153" y="2802844"/>
            <a:ext cx="2019243" cy="4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en-GB" sz="2400" dirty="0"/>
              <a:t>Auth Provider</a:t>
            </a:r>
          </a:p>
        </p:txBody>
      </p:sp>
      <p:pic>
        <p:nvPicPr>
          <p:cNvPr id="15" name="Kép 2">
            <a:extLst>
              <a:ext uri="{FF2B5EF4-FFF2-40B4-BE49-F238E27FC236}">
                <a16:creationId xmlns:a16="http://schemas.microsoft.com/office/drawing/2014/main" id="{46700101-6819-4E17-AFC2-C1ABDA6F8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1600" y="1920525"/>
            <a:ext cx="4934585" cy="4114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Subtitle 2">
            <a:extLst>
              <a:ext uri="{FF2B5EF4-FFF2-40B4-BE49-F238E27FC236}">
                <a16:creationId xmlns:a16="http://schemas.microsoft.com/office/drawing/2014/main" id="{5C9A850D-2500-43CD-917F-789FD4439B80}"/>
              </a:ext>
            </a:extLst>
          </p:cNvPr>
          <p:cNvSpPr txBox="1">
            <a:spLocks/>
          </p:cNvSpPr>
          <p:nvPr/>
        </p:nvSpPr>
        <p:spPr>
          <a:xfrm>
            <a:off x="13742583" y="1233244"/>
            <a:ext cx="2212618" cy="4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en-GB" sz="2400" dirty="0"/>
              <a:t>Decoding Token</a:t>
            </a:r>
          </a:p>
        </p:txBody>
      </p:sp>
    </p:spTree>
    <p:extLst>
      <p:ext uri="{BB962C8B-B14F-4D97-AF65-F5344CB8AC3E}">
        <p14:creationId xmlns:p14="http://schemas.microsoft.com/office/powerpoint/2010/main" val="2580806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960000" y="593367"/>
            <a:ext cx="575322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What did we use?</a:t>
            </a:r>
          </a:p>
        </p:txBody>
      </p:sp>
      <p:pic>
        <p:nvPicPr>
          <p:cNvPr id="5" name="Kép 2">
            <a:extLst>
              <a:ext uri="{FF2B5EF4-FFF2-40B4-BE49-F238E27FC236}">
                <a16:creationId xmlns:a16="http://schemas.microsoft.com/office/drawing/2014/main" id="{244536F9-CC38-4B8F-987D-CE28C5009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932" y="1920525"/>
            <a:ext cx="4934585" cy="4114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Kép 6">
            <a:extLst>
              <a:ext uri="{FF2B5EF4-FFF2-40B4-BE49-F238E27FC236}">
                <a16:creationId xmlns:a16="http://schemas.microsoft.com/office/drawing/2014/main" id="{FECCAA8D-8B09-46D0-9305-B6207DD07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483" y="3429000"/>
            <a:ext cx="3409950" cy="3905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2A7868A8-81A3-4C34-9EAF-508E78FC057F}"/>
              </a:ext>
            </a:extLst>
          </p:cNvPr>
          <p:cNvSpPr txBox="1">
            <a:spLocks/>
          </p:cNvSpPr>
          <p:nvPr/>
        </p:nvSpPr>
        <p:spPr>
          <a:xfrm>
            <a:off x="1989836" y="2802844"/>
            <a:ext cx="2019243" cy="4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en-GB" sz="2400" dirty="0"/>
              <a:t>Auth Provider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26091FE8-6FD6-44C0-B0E6-105B789C01DF}"/>
              </a:ext>
            </a:extLst>
          </p:cNvPr>
          <p:cNvSpPr txBox="1">
            <a:spLocks/>
          </p:cNvSpPr>
          <p:nvPr/>
        </p:nvSpPr>
        <p:spPr>
          <a:xfrm>
            <a:off x="7323915" y="1233244"/>
            <a:ext cx="2212618" cy="4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en-GB" sz="2400" dirty="0"/>
              <a:t>Decoding Token</a:t>
            </a:r>
          </a:p>
        </p:txBody>
      </p:sp>
      <p:pic>
        <p:nvPicPr>
          <p:cNvPr id="17" name="Kép 8">
            <a:extLst>
              <a:ext uri="{FF2B5EF4-FFF2-40B4-BE49-F238E27FC236}">
                <a16:creationId xmlns:a16="http://schemas.microsoft.com/office/drawing/2014/main" id="{D4932D02-D0B9-486E-9E6E-DCD822E2B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9558" y="2976447"/>
            <a:ext cx="3162300" cy="1143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Kép 7">
            <a:extLst>
              <a:ext uri="{FF2B5EF4-FFF2-40B4-BE49-F238E27FC236}">
                <a16:creationId xmlns:a16="http://schemas.microsoft.com/office/drawing/2014/main" id="{9EFEB614-D693-4E86-9EDD-3DA27A558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5220" y="4355046"/>
            <a:ext cx="3990975" cy="1133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6EB1CD5E-900F-4174-ADDA-7DC3D585E73B}"/>
              </a:ext>
            </a:extLst>
          </p:cNvPr>
          <p:cNvSpPr txBox="1">
            <a:spLocks/>
          </p:cNvSpPr>
          <p:nvPr/>
        </p:nvSpPr>
        <p:spPr>
          <a:xfrm>
            <a:off x="13119682" y="1968601"/>
            <a:ext cx="2482050" cy="86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ctr"/>
            <a:r>
              <a:rPr lang="en-GB" sz="2400" dirty="0"/>
              <a:t>Managing user activities</a:t>
            </a:r>
          </a:p>
        </p:txBody>
      </p:sp>
    </p:spTree>
    <p:extLst>
      <p:ext uri="{BB962C8B-B14F-4D97-AF65-F5344CB8AC3E}">
        <p14:creationId xmlns:p14="http://schemas.microsoft.com/office/powerpoint/2010/main" val="1885931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960000" y="593367"/>
            <a:ext cx="575322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What did we use?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DF3E6E6-84E3-401C-86DF-3792203CB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805" y="2976447"/>
            <a:ext cx="3162300" cy="1143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Kép 7">
            <a:extLst>
              <a:ext uri="{FF2B5EF4-FFF2-40B4-BE49-F238E27FC236}">
                <a16:creationId xmlns:a16="http://schemas.microsoft.com/office/drawing/2014/main" id="{3614C337-6270-4AAA-A5BD-95CB157D1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467" y="4355046"/>
            <a:ext cx="3990975" cy="1133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Kép 2">
            <a:extLst>
              <a:ext uri="{FF2B5EF4-FFF2-40B4-BE49-F238E27FC236}">
                <a16:creationId xmlns:a16="http://schemas.microsoft.com/office/drawing/2014/main" id="{80C1A122-2B4C-4E6F-AA04-C37B2BF49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58" y="1920525"/>
            <a:ext cx="4934585" cy="4114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Kép 6">
            <a:extLst>
              <a:ext uri="{FF2B5EF4-FFF2-40B4-BE49-F238E27FC236}">
                <a16:creationId xmlns:a16="http://schemas.microsoft.com/office/drawing/2014/main" id="{5F5CB766-4FC4-470A-B8BC-AF547F375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592800" y="3429000"/>
            <a:ext cx="3409950" cy="3905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29332101-14D3-4CCB-810B-7EA51B63C534}"/>
              </a:ext>
            </a:extLst>
          </p:cNvPr>
          <p:cNvSpPr txBox="1">
            <a:spLocks/>
          </p:cNvSpPr>
          <p:nvPr/>
        </p:nvSpPr>
        <p:spPr>
          <a:xfrm>
            <a:off x="-2897447" y="2802844"/>
            <a:ext cx="2019243" cy="4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en-GB" sz="2400" dirty="0"/>
              <a:t>Auth Provider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6C12526-386A-4E6C-8CA8-112358DC6864}"/>
              </a:ext>
            </a:extLst>
          </p:cNvPr>
          <p:cNvSpPr txBox="1">
            <a:spLocks/>
          </p:cNvSpPr>
          <p:nvPr/>
        </p:nvSpPr>
        <p:spPr>
          <a:xfrm>
            <a:off x="2337541" y="1233244"/>
            <a:ext cx="2212618" cy="4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en-GB" sz="2400" dirty="0"/>
              <a:t>Decoding Token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592868A-A71D-48A0-81B2-2E5732CDABDF}"/>
              </a:ext>
            </a:extLst>
          </p:cNvPr>
          <p:cNvSpPr txBox="1">
            <a:spLocks/>
          </p:cNvSpPr>
          <p:nvPr/>
        </p:nvSpPr>
        <p:spPr>
          <a:xfrm>
            <a:off x="7978929" y="1968601"/>
            <a:ext cx="2482050" cy="86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ctr"/>
            <a:r>
              <a:rPr lang="en-GB" sz="2400" dirty="0"/>
              <a:t>Managing user activities</a:t>
            </a: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A5D9EDDA-723E-4365-88EA-11C5EB0D501F}"/>
              </a:ext>
            </a:extLst>
          </p:cNvPr>
          <p:cNvSpPr txBox="1">
            <a:spLocks/>
          </p:cNvSpPr>
          <p:nvPr/>
        </p:nvSpPr>
        <p:spPr>
          <a:xfrm>
            <a:off x="12343910" y="2938463"/>
            <a:ext cx="2750940" cy="981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5400" dirty="0"/>
              <a:t>Backend</a:t>
            </a:r>
          </a:p>
        </p:txBody>
      </p:sp>
    </p:spTree>
    <p:extLst>
      <p:ext uri="{BB962C8B-B14F-4D97-AF65-F5344CB8AC3E}">
        <p14:creationId xmlns:p14="http://schemas.microsoft.com/office/powerpoint/2010/main" val="1361768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F9A6822-1AA9-4E8E-8D80-093D90B41D28}"/>
              </a:ext>
            </a:extLst>
          </p:cNvPr>
          <p:cNvSpPr txBox="1">
            <a:spLocks/>
          </p:cNvSpPr>
          <p:nvPr/>
        </p:nvSpPr>
        <p:spPr>
          <a:xfrm>
            <a:off x="4720530" y="2938463"/>
            <a:ext cx="2750940" cy="981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5400" dirty="0"/>
              <a:t>Backend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D6A5676-F754-4161-B55D-E3104731EA69}"/>
              </a:ext>
            </a:extLst>
          </p:cNvPr>
          <p:cNvSpPr txBox="1">
            <a:spLocks/>
          </p:cNvSpPr>
          <p:nvPr/>
        </p:nvSpPr>
        <p:spPr>
          <a:xfrm>
            <a:off x="1438642" y="7063123"/>
            <a:ext cx="4657358" cy="378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Connect database with frontend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Manages data from website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CRUD operations: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GET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POST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PUT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DELETE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Responses: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JSON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Image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0575453-4F4F-4672-B982-6E21A8A3D92E}"/>
              </a:ext>
            </a:extLst>
          </p:cNvPr>
          <p:cNvSpPr txBox="1">
            <a:spLocks/>
          </p:cNvSpPr>
          <p:nvPr/>
        </p:nvSpPr>
        <p:spPr>
          <a:xfrm>
            <a:off x="-9897600" y="593367"/>
            <a:ext cx="575322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What did we use?</a:t>
            </a:r>
          </a:p>
        </p:txBody>
      </p:sp>
      <p:pic>
        <p:nvPicPr>
          <p:cNvPr id="7" name="Kép 8">
            <a:extLst>
              <a:ext uri="{FF2B5EF4-FFF2-40B4-BE49-F238E27FC236}">
                <a16:creationId xmlns:a16="http://schemas.microsoft.com/office/drawing/2014/main" id="{A3EC1059-1DD6-43BA-8C53-E29245FF2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30042" y="2976447"/>
            <a:ext cx="3162300" cy="1143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Kép 7">
            <a:extLst>
              <a:ext uri="{FF2B5EF4-FFF2-40B4-BE49-F238E27FC236}">
                <a16:creationId xmlns:a16="http://schemas.microsoft.com/office/drawing/2014/main" id="{C185F460-AFB0-44FE-84E8-732781947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44380" y="4355046"/>
            <a:ext cx="3990975" cy="1133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Kép 2">
            <a:extLst>
              <a:ext uri="{FF2B5EF4-FFF2-40B4-BE49-F238E27FC236}">
                <a16:creationId xmlns:a16="http://schemas.microsoft.com/office/drawing/2014/main" id="{895FF95E-B360-4453-B4DE-9F05A39AD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897600" y="1920525"/>
            <a:ext cx="4934585" cy="4114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4E131441-52F1-4D8E-AB66-6F3FC69089E7}"/>
              </a:ext>
            </a:extLst>
          </p:cNvPr>
          <p:cNvSpPr txBox="1">
            <a:spLocks/>
          </p:cNvSpPr>
          <p:nvPr/>
        </p:nvSpPr>
        <p:spPr>
          <a:xfrm>
            <a:off x="-8536617" y="1233244"/>
            <a:ext cx="2212618" cy="4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en-GB" sz="2400" dirty="0"/>
              <a:t>Decoding Token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B7E96E4-9BF4-4318-9E2B-45D9F000CFFD}"/>
              </a:ext>
            </a:extLst>
          </p:cNvPr>
          <p:cNvSpPr txBox="1">
            <a:spLocks/>
          </p:cNvSpPr>
          <p:nvPr/>
        </p:nvSpPr>
        <p:spPr>
          <a:xfrm>
            <a:off x="-3389918" y="1968601"/>
            <a:ext cx="2482050" cy="86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ctr"/>
            <a:r>
              <a:rPr lang="en-GB" sz="2400" dirty="0"/>
              <a:t>Managing user activities</a:t>
            </a:r>
          </a:p>
        </p:txBody>
      </p:sp>
    </p:spTree>
    <p:extLst>
      <p:ext uri="{BB962C8B-B14F-4D97-AF65-F5344CB8AC3E}">
        <p14:creationId xmlns:p14="http://schemas.microsoft.com/office/powerpoint/2010/main" val="3904041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960000" y="593367"/>
            <a:ext cx="575322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Functions of the Website -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D740177-E2ED-47F4-A372-155FF5715CBC}"/>
              </a:ext>
            </a:extLst>
          </p:cNvPr>
          <p:cNvSpPr txBox="1">
            <a:spLocks/>
          </p:cNvSpPr>
          <p:nvPr/>
        </p:nvSpPr>
        <p:spPr>
          <a:xfrm>
            <a:off x="1438642" y="1535159"/>
            <a:ext cx="4657358" cy="378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Connect database with frontend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Manages data from website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CRUD operations: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GET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POST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PUT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DELETE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Responses: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JSON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Image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F9A6822-1AA9-4E8E-8D80-093D90B41D28}"/>
              </a:ext>
            </a:extLst>
          </p:cNvPr>
          <p:cNvSpPr txBox="1">
            <a:spLocks/>
          </p:cNvSpPr>
          <p:nvPr/>
        </p:nvSpPr>
        <p:spPr>
          <a:xfrm>
            <a:off x="6606420" y="603886"/>
            <a:ext cx="199656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Backend</a:t>
            </a:r>
          </a:p>
        </p:txBody>
      </p:sp>
      <p:pic>
        <p:nvPicPr>
          <p:cNvPr id="9" name="Kép2">
            <a:extLst>
              <a:ext uri="{FF2B5EF4-FFF2-40B4-BE49-F238E27FC236}">
                <a16:creationId xmlns:a16="http://schemas.microsoft.com/office/drawing/2014/main" id="{2A03F608-918A-41AD-8FF5-4DB9BCF3A98E}"/>
              </a:ext>
            </a:extLst>
          </p:cNvPr>
          <p:cNvPicPr/>
          <p:nvPr/>
        </p:nvPicPr>
        <p:blipFill rotWithShape="1">
          <a:blip r:embed="rId2">
            <a:lum/>
            <a:alphaModFix/>
          </a:blip>
          <a:srcRect r="12238" b="72276"/>
          <a:stretch/>
        </p:blipFill>
        <p:spPr>
          <a:xfrm>
            <a:off x="12435046" y="2552258"/>
            <a:ext cx="9867801" cy="17534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5728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2">
            <a:extLst>
              <a:ext uri="{FF2B5EF4-FFF2-40B4-BE49-F238E27FC236}">
                <a16:creationId xmlns:a16="http://schemas.microsoft.com/office/drawing/2014/main" id="{FD7CAE65-697C-4CC4-BE93-92A9095487AB}"/>
              </a:ext>
            </a:extLst>
          </p:cNvPr>
          <p:cNvPicPr/>
          <p:nvPr/>
        </p:nvPicPr>
        <p:blipFill rotWithShape="1">
          <a:blip r:embed="rId2">
            <a:lum/>
            <a:alphaModFix/>
          </a:blip>
          <a:srcRect r="12238" b="72276"/>
          <a:stretch/>
        </p:blipFill>
        <p:spPr>
          <a:xfrm>
            <a:off x="1162100" y="2552258"/>
            <a:ext cx="9867801" cy="17534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5974112A-AB37-4560-9C88-E3AC4FEA8A6A}"/>
              </a:ext>
            </a:extLst>
          </p:cNvPr>
          <p:cNvSpPr txBox="1">
            <a:spLocks/>
          </p:cNvSpPr>
          <p:nvPr/>
        </p:nvSpPr>
        <p:spPr>
          <a:xfrm>
            <a:off x="-4673923" y="1535159"/>
            <a:ext cx="4657358" cy="378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Connect database with frontend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Manages data from website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CRUD operations: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GET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POST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PUT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DELETE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Responses: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JSON</a:t>
            </a:r>
          </a:p>
          <a:p>
            <a:pPr marL="1247775" lvl="1" indent="-342900" algn="l">
              <a:buFont typeface="Arial" panose="020B0604020202020204" pitchFamily="34" charset="0"/>
              <a:buChar char="•"/>
            </a:pPr>
            <a:r>
              <a:rPr lang="en-GB" dirty="0"/>
              <a:t>Image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2ED0E45-53A9-42C8-8F8A-040100DF27B1}"/>
              </a:ext>
            </a:extLst>
          </p:cNvPr>
          <p:cNvSpPr txBox="1">
            <a:spLocks/>
          </p:cNvSpPr>
          <p:nvPr/>
        </p:nvSpPr>
        <p:spPr>
          <a:xfrm>
            <a:off x="596108" y="347963"/>
            <a:ext cx="4048299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Endpoints</a:t>
            </a:r>
          </a:p>
        </p:txBody>
      </p:sp>
    </p:spTree>
    <p:extLst>
      <p:ext uri="{BB962C8B-B14F-4D97-AF65-F5344CB8AC3E}">
        <p14:creationId xmlns:p14="http://schemas.microsoft.com/office/powerpoint/2010/main" val="1830841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596108" y="347963"/>
            <a:ext cx="4048299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What did we use?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D740177-E2ED-47F4-A372-155FF5715CBC}"/>
              </a:ext>
            </a:extLst>
          </p:cNvPr>
          <p:cNvSpPr txBox="1">
            <a:spLocks/>
          </p:cNvSpPr>
          <p:nvPr/>
        </p:nvSpPr>
        <p:spPr>
          <a:xfrm>
            <a:off x="1203247" y="2454903"/>
            <a:ext cx="3441160" cy="194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Composer</a:t>
            </a:r>
          </a:p>
          <a:p>
            <a:pPr marL="715963" lvl="1" indent="-342900" algn="l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JWT</a:t>
            </a:r>
          </a:p>
          <a:p>
            <a:pPr marL="715963" lvl="1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Dotenv</a:t>
            </a:r>
            <a:endParaRPr lang="en-GB" dirty="0"/>
          </a:p>
          <a:p>
            <a:pPr marL="715963" lvl="1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PHPMailer</a:t>
            </a:r>
            <a:endParaRPr lang="en-GB" dirty="0"/>
          </a:p>
          <a:p>
            <a:pPr marL="715963" lvl="1" indent="-342900" algn="l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Autoloader</a:t>
            </a:r>
          </a:p>
        </p:txBody>
      </p:sp>
      <p:pic>
        <p:nvPicPr>
          <p:cNvPr id="10" name="Kép12">
            <a:extLst>
              <a:ext uri="{FF2B5EF4-FFF2-40B4-BE49-F238E27FC236}">
                <a16:creationId xmlns:a16="http://schemas.microsoft.com/office/drawing/2014/main" id="{0AC9C9E2-48AA-4166-9C44-0FBE436A8453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7902556" y="1930392"/>
            <a:ext cx="3381804" cy="28625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4C75A435-10E0-4BFC-9B81-343AE11A2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62" y="129133"/>
            <a:ext cx="1644276" cy="65997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505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2761211" y="3047200"/>
            <a:ext cx="1582189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/>
              <a:t>MVC – </a:t>
            </a:r>
            <a:endParaRPr lang="en-GB" sz="4000" dirty="0">
              <a:effectLst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0C483B8-71E7-41E3-8303-B70ADAB5BC50}"/>
              </a:ext>
            </a:extLst>
          </p:cNvPr>
          <p:cNvSpPr txBox="1">
            <a:spLocks/>
          </p:cNvSpPr>
          <p:nvPr/>
        </p:nvSpPr>
        <p:spPr>
          <a:xfrm>
            <a:off x="4247111" y="3047200"/>
            <a:ext cx="157457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/>
              <a:t>Model</a:t>
            </a:r>
            <a:endParaRPr lang="en-GB" sz="4000" dirty="0">
              <a:effectLst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DBBFD1D1-0C53-402E-AC6E-343B59484C69}"/>
              </a:ext>
            </a:extLst>
          </p:cNvPr>
          <p:cNvSpPr txBox="1">
            <a:spLocks/>
          </p:cNvSpPr>
          <p:nvPr/>
        </p:nvSpPr>
        <p:spPr>
          <a:xfrm>
            <a:off x="5603471" y="3047200"/>
            <a:ext cx="3715789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/>
              <a:t>-View-Controller</a:t>
            </a:r>
            <a:endParaRPr lang="en-GB" sz="4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2312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599901" y="269562"/>
            <a:ext cx="1564179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/>
              <a:t>Model</a:t>
            </a:r>
            <a:endParaRPr lang="en-GB" sz="4000" dirty="0">
              <a:effectLst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FBACADD-105E-4067-A633-3DCC5F9C0673}"/>
              </a:ext>
            </a:extLst>
          </p:cNvPr>
          <p:cNvSpPr txBox="1">
            <a:spLocks/>
          </p:cNvSpPr>
          <p:nvPr/>
        </p:nvSpPr>
        <p:spPr>
          <a:xfrm>
            <a:off x="1300972" y="1903162"/>
            <a:ext cx="3873008" cy="3214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</a:rPr>
              <a:t>MySQL queries in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Select, Insert, Update, Delete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</a:rPr>
              <a:t>Models inherit from tables:</a:t>
            </a:r>
          </a:p>
          <a:p>
            <a:pPr marL="898525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Oxanium"/>
              </a:rPr>
              <a:t>Select</a:t>
            </a:r>
          </a:p>
          <a:p>
            <a:pPr marL="898525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Oxanium"/>
              </a:rPr>
              <a:t>Join</a:t>
            </a:r>
          </a:p>
          <a:p>
            <a:pPr marL="898525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Oxanium"/>
              </a:rPr>
              <a:t>Execute</a:t>
            </a:r>
          </a:p>
        </p:txBody>
      </p:sp>
      <p:pic>
        <p:nvPicPr>
          <p:cNvPr id="10" name="Kép6">
            <a:extLst>
              <a:ext uri="{FF2B5EF4-FFF2-40B4-BE49-F238E27FC236}">
                <a16:creationId xmlns:a16="http://schemas.microsoft.com/office/drawing/2014/main" id="{FA317F14-1156-41D1-A3FF-EC30B415622D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975349" y="1033162"/>
            <a:ext cx="3959919" cy="24774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itle 3">
            <a:extLst>
              <a:ext uri="{FF2B5EF4-FFF2-40B4-BE49-F238E27FC236}">
                <a16:creationId xmlns:a16="http://schemas.microsoft.com/office/drawing/2014/main" id="{3D423F72-51C5-4F6D-BD50-9781990828CF}"/>
              </a:ext>
            </a:extLst>
          </p:cNvPr>
          <p:cNvSpPr txBox="1">
            <a:spLocks/>
          </p:cNvSpPr>
          <p:nvPr/>
        </p:nvSpPr>
        <p:spPr>
          <a:xfrm>
            <a:off x="1991590" y="269562"/>
            <a:ext cx="344979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/>
              <a:t>s</a:t>
            </a:r>
            <a:endParaRPr lang="en-GB" sz="4000" dirty="0">
              <a:effectLst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3B5CAC0D-DB15-4D52-9FC2-5C03D17318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920" y="3932553"/>
            <a:ext cx="1888776" cy="19943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8525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599901" y="269562"/>
            <a:ext cx="4238799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/>
              <a:t>Views - Responses</a:t>
            </a:r>
            <a:endParaRPr lang="en-GB" sz="4000" dirty="0">
              <a:effectLst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FBACADD-105E-4067-A633-3DCC5F9C0673}"/>
              </a:ext>
            </a:extLst>
          </p:cNvPr>
          <p:cNvSpPr txBox="1">
            <a:spLocks/>
          </p:cNvSpPr>
          <p:nvPr/>
        </p:nvSpPr>
        <p:spPr>
          <a:xfrm>
            <a:off x="1704816" y="1141162"/>
            <a:ext cx="4391184" cy="228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</a:rPr>
              <a:t>Success:</a:t>
            </a:r>
          </a:p>
          <a:p>
            <a:pPr marL="808038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Oxanium"/>
              </a:rPr>
              <a:t>Returns status code</a:t>
            </a:r>
          </a:p>
          <a:p>
            <a:pPr marL="808038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Oxanium"/>
              </a:rPr>
              <a:t>Returns JSON as string</a:t>
            </a:r>
          </a:p>
        </p:txBody>
      </p:sp>
      <p:pic>
        <p:nvPicPr>
          <p:cNvPr id="21" name="Kép5">
            <a:extLst>
              <a:ext uri="{FF2B5EF4-FFF2-40B4-BE49-F238E27FC236}">
                <a16:creationId xmlns:a16="http://schemas.microsoft.com/office/drawing/2014/main" id="{C350C6CE-1B98-4DEE-BED0-D989A1A30945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704816" y="3507312"/>
            <a:ext cx="8782368" cy="32215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Subtitle 2">
            <a:extLst>
              <a:ext uri="{FF2B5EF4-FFF2-40B4-BE49-F238E27FC236}">
                <a16:creationId xmlns:a16="http://schemas.microsoft.com/office/drawing/2014/main" id="{D773E337-7AE0-4F42-B612-F35A6AAAF7BD}"/>
              </a:ext>
            </a:extLst>
          </p:cNvPr>
          <p:cNvSpPr txBox="1">
            <a:spLocks/>
          </p:cNvSpPr>
          <p:nvPr/>
        </p:nvSpPr>
        <p:spPr>
          <a:xfrm>
            <a:off x="6096000" y="1141162"/>
            <a:ext cx="4391184" cy="228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</a:rPr>
              <a:t>Error:</a:t>
            </a:r>
          </a:p>
          <a:p>
            <a:pPr marL="808038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Oxanium"/>
              </a:rPr>
              <a:t>Messages stored in txt file</a:t>
            </a:r>
          </a:p>
          <a:p>
            <a:pPr marL="808038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Oxanium"/>
              </a:rPr>
              <a:t>Returns status code</a:t>
            </a:r>
          </a:p>
          <a:p>
            <a:pPr marL="808038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Oxanium"/>
              </a:rPr>
              <a:t>Returns error message from txt file</a:t>
            </a:r>
          </a:p>
        </p:txBody>
      </p:sp>
    </p:spTree>
    <p:extLst>
      <p:ext uri="{BB962C8B-B14F-4D97-AF65-F5344CB8AC3E}">
        <p14:creationId xmlns:p14="http://schemas.microsoft.com/office/powerpoint/2010/main" val="4287287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2497281" y="406722"/>
            <a:ext cx="2615739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/>
              <a:t>Controllers</a:t>
            </a:r>
            <a:endParaRPr lang="en-GB" sz="4000" dirty="0">
              <a:effectLst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FBACADD-105E-4067-A633-3DCC5F9C0673}"/>
              </a:ext>
            </a:extLst>
          </p:cNvPr>
          <p:cNvSpPr txBox="1">
            <a:spLocks/>
          </p:cNvSpPr>
          <p:nvPr/>
        </p:nvSpPr>
        <p:spPr>
          <a:xfrm>
            <a:off x="721645" y="1716035"/>
            <a:ext cx="3873008" cy="2188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Oxanium"/>
              </a:rPr>
              <a:t>Handle request body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Parameters as associative arrays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Oxanium"/>
              </a:rPr>
              <a:t>Verify values by controllers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 functions themselves are in separate classes</a:t>
            </a:r>
            <a:endParaRPr lang="en-GB" dirty="0">
              <a:latin typeface="Oxanium"/>
            </a:endParaRPr>
          </a:p>
        </p:txBody>
      </p:sp>
      <p:pic>
        <p:nvPicPr>
          <p:cNvPr id="8" name="Kép3">
            <a:extLst>
              <a:ext uri="{FF2B5EF4-FFF2-40B4-BE49-F238E27FC236}">
                <a16:creationId xmlns:a16="http://schemas.microsoft.com/office/drawing/2014/main" id="{3A4EE347-F7E6-4C95-890B-617ECBA5648C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899199" y="3975177"/>
            <a:ext cx="3517900" cy="22137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Kép9">
            <a:extLst>
              <a:ext uri="{FF2B5EF4-FFF2-40B4-BE49-F238E27FC236}">
                <a16:creationId xmlns:a16="http://schemas.microsoft.com/office/drawing/2014/main" id="{265F5A35-683B-4FB6-86C6-2A096684BD80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644709" y="2203064"/>
            <a:ext cx="2836004" cy="3895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Kép10">
            <a:extLst>
              <a:ext uri="{FF2B5EF4-FFF2-40B4-BE49-F238E27FC236}">
                <a16:creationId xmlns:a16="http://schemas.microsoft.com/office/drawing/2014/main" id="{1B0848FF-1779-49E7-97E7-7D3CC063CF3D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157710" y="2771892"/>
            <a:ext cx="3833331" cy="17384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Kép9 másolat 1">
            <a:extLst>
              <a:ext uri="{FF2B5EF4-FFF2-40B4-BE49-F238E27FC236}">
                <a16:creationId xmlns:a16="http://schemas.microsoft.com/office/drawing/2014/main" id="{829BA3BF-D183-4467-9B8C-04C5D922B3E7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754841" y="4688726"/>
            <a:ext cx="2836005" cy="3895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Kép11">
            <a:extLst>
              <a:ext uri="{FF2B5EF4-FFF2-40B4-BE49-F238E27FC236}">
                <a16:creationId xmlns:a16="http://schemas.microsoft.com/office/drawing/2014/main" id="{67F392E0-52D3-435A-9E6B-A6A22B4A7996}"/>
              </a:ext>
            </a:extLst>
          </p:cNvPr>
          <p:cNvPicPr/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8321940" y="5294216"/>
            <a:ext cx="3481541" cy="6162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Kép7">
            <a:extLst>
              <a:ext uri="{FF2B5EF4-FFF2-40B4-BE49-F238E27FC236}">
                <a16:creationId xmlns:a16="http://schemas.microsoft.com/office/drawing/2014/main" id="{C6709A2E-C2D1-4FF4-B874-CF808B0F614C}"/>
              </a:ext>
            </a:extLst>
          </p:cNvPr>
          <p:cNvPicPr/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4982483" y="1913546"/>
            <a:ext cx="2730427" cy="3895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1" name="Kép8">
            <a:extLst>
              <a:ext uri="{FF2B5EF4-FFF2-40B4-BE49-F238E27FC236}">
                <a16:creationId xmlns:a16="http://schemas.microsoft.com/office/drawing/2014/main" id="{4F361E9A-DB99-4428-A45B-C52DCC79AF3C}"/>
              </a:ext>
            </a:extLst>
          </p:cNvPr>
          <p:cNvPicPr/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4982483" y="2482374"/>
            <a:ext cx="2726886" cy="36297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9027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B27A919-6BBB-48F4-80BE-C17D3AD253D5}"/>
              </a:ext>
            </a:extLst>
          </p:cNvPr>
          <p:cNvSpPr txBox="1">
            <a:spLocks/>
          </p:cNvSpPr>
          <p:nvPr/>
        </p:nvSpPr>
        <p:spPr>
          <a:xfrm>
            <a:off x="4125488" y="2907653"/>
            <a:ext cx="3941025" cy="1042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5400" dirty="0"/>
              <a:t>LMS Desktop</a:t>
            </a:r>
          </a:p>
        </p:txBody>
      </p:sp>
    </p:spTree>
    <p:extLst>
      <p:ext uri="{BB962C8B-B14F-4D97-AF65-F5344CB8AC3E}">
        <p14:creationId xmlns:p14="http://schemas.microsoft.com/office/powerpoint/2010/main" val="3233660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2429247" y="383963"/>
            <a:ext cx="2782833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Functions of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D740177-E2ED-47F4-A372-155FF5715CBC}"/>
              </a:ext>
            </a:extLst>
          </p:cNvPr>
          <p:cNvSpPr txBox="1">
            <a:spLocks/>
          </p:cNvSpPr>
          <p:nvPr/>
        </p:nvSpPr>
        <p:spPr>
          <a:xfrm>
            <a:off x="6718792" y="2957296"/>
            <a:ext cx="3297160" cy="92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</a:rPr>
              <a:t>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Admin or Librarian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812843-343E-431D-B845-6AC0CC858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311" y="2232530"/>
            <a:ext cx="2676899" cy="29436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EC4820-2A6F-4CB3-A4DD-F45A4846A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550" y="7010783"/>
            <a:ext cx="2676899" cy="29055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FB27A919-6BBB-48F4-80BE-C17D3AD253D5}"/>
              </a:ext>
            </a:extLst>
          </p:cNvPr>
          <p:cNvSpPr txBox="1">
            <a:spLocks/>
          </p:cNvSpPr>
          <p:nvPr/>
        </p:nvSpPr>
        <p:spPr>
          <a:xfrm>
            <a:off x="5125291" y="383490"/>
            <a:ext cx="2959529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LMS Desktop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A45B698-534C-4FEF-9C05-B4575D0A6A5D}"/>
              </a:ext>
            </a:extLst>
          </p:cNvPr>
          <p:cNvSpPr txBox="1">
            <a:spLocks/>
          </p:cNvSpPr>
          <p:nvPr/>
        </p:nvSpPr>
        <p:spPr>
          <a:xfrm>
            <a:off x="7755592" y="6858000"/>
            <a:ext cx="329716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Show password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Real time error feedback</a:t>
            </a:r>
          </a:p>
        </p:txBody>
      </p:sp>
    </p:spTree>
    <p:extLst>
      <p:ext uri="{BB962C8B-B14F-4D97-AF65-F5344CB8AC3E}">
        <p14:creationId xmlns:p14="http://schemas.microsoft.com/office/powerpoint/2010/main" val="3671479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AD740177-E2ED-47F4-A372-155FF5715CBC}"/>
              </a:ext>
            </a:extLst>
          </p:cNvPr>
          <p:cNvSpPr txBox="1">
            <a:spLocks/>
          </p:cNvSpPr>
          <p:nvPr/>
        </p:nvSpPr>
        <p:spPr>
          <a:xfrm>
            <a:off x="7755592" y="2957296"/>
            <a:ext cx="329716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</a:rPr>
              <a:t>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Admin or Librarian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812843-343E-431D-B845-6AC0CC858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508" y="2232530"/>
            <a:ext cx="2676899" cy="29436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00A826-0BEB-4287-A865-6E1990222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550" y="2251583"/>
            <a:ext cx="2676899" cy="29055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CFCC55-80C0-4022-9BFF-8E9376D903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26"/>
          <a:stretch/>
        </p:blipFill>
        <p:spPr>
          <a:xfrm>
            <a:off x="-7832884" y="1870096"/>
            <a:ext cx="7651462" cy="43391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24D1C201-B3D0-4E5A-8807-5BCF982B1C4E}"/>
              </a:ext>
            </a:extLst>
          </p:cNvPr>
          <p:cNvSpPr txBox="1">
            <a:spLocks/>
          </p:cNvSpPr>
          <p:nvPr/>
        </p:nvSpPr>
        <p:spPr>
          <a:xfrm>
            <a:off x="7755592" y="3657887"/>
            <a:ext cx="329716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Show password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Real time error feedback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1F634CB-9BEC-459F-AFF2-D1B51000C00C}"/>
              </a:ext>
            </a:extLst>
          </p:cNvPr>
          <p:cNvSpPr txBox="1">
            <a:spLocks/>
          </p:cNvSpPr>
          <p:nvPr/>
        </p:nvSpPr>
        <p:spPr>
          <a:xfrm>
            <a:off x="12379858" y="2996949"/>
            <a:ext cx="4134760" cy="2085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Books, user and borrowing statistics</a:t>
            </a:r>
            <a:endParaRPr lang="en-GB" sz="2400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</a:rPr>
              <a:t>Manage database through the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Change personal data</a:t>
            </a:r>
            <a:endParaRPr lang="en-GB" dirty="0">
              <a:effectLst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8A7E55F1-F400-4F7F-88CC-9AE816A100DF}"/>
              </a:ext>
            </a:extLst>
          </p:cNvPr>
          <p:cNvSpPr txBox="1">
            <a:spLocks/>
          </p:cNvSpPr>
          <p:nvPr/>
        </p:nvSpPr>
        <p:spPr>
          <a:xfrm>
            <a:off x="2429247" y="383963"/>
            <a:ext cx="2782833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Functions of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BC14ABCD-025E-4DDA-8351-B181A9C3F4CA}"/>
              </a:ext>
            </a:extLst>
          </p:cNvPr>
          <p:cNvSpPr txBox="1">
            <a:spLocks/>
          </p:cNvSpPr>
          <p:nvPr/>
        </p:nvSpPr>
        <p:spPr>
          <a:xfrm>
            <a:off x="5125291" y="383490"/>
            <a:ext cx="2959529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LMS Desktop</a:t>
            </a:r>
          </a:p>
        </p:txBody>
      </p:sp>
    </p:spTree>
    <p:extLst>
      <p:ext uri="{BB962C8B-B14F-4D97-AF65-F5344CB8AC3E}">
        <p14:creationId xmlns:p14="http://schemas.microsoft.com/office/powerpoint/2010/main" val="964809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AD740177-E2ED-47F4-A372-155FF5715CBC}"/>
              </a:ext>
            </a:extLst>
          </p:cNvPr>
          <p:cNvSpPr txBox="1">
            <a:spLocks/>
          </p:cNvSpPr>
          <p:nvPr/>
        </p:nvSpPr>
        <p:spPr>
          <a:xfrm>
            <a:off x="8057240" y="2996949"/>
            <a:ext cx="4134760" cy="2085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Books, user and borrowing statistics</a:t>
            </a:r>
            <a:endParaRPr lang="en-GB" sz="2400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</a:rPr>
              <a:t>Manage database through the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Change personal data</a:t>
            </a:r>
            <a:endParaRPr lang="en-GB" dirty="0">
              <a:effectLst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FDB86E5-1DF7-4562-BE6E-E8031A6EF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508" y="7042130"/>
            <a:ext cx="2676899" cy="29436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C0B858-038B-42D0-B0BE-A6BCD2927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550" y="7061183"/>
            <a:ext cx="2676899" cy="29055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845FCA-B507-4523-A716-AE10E9A4DA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26"/>
          <a:stretch/>
        </p:blipFill>
        <p:spPr>
          <a:xfrm>
            <a:off x="238316" y="1870096"/>
            <a:ext cx="7651462" cy="43391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263469BD-1D2F-4917-87B9-69BFA4797A84}"/>
              </a:ext>
            </a:extLst>
          </p:cNvPr>
          <p:cNvSpPr txBox="1">
            <a:spLocks/>
          </p:cNvSpPr>
          <p:nvPr/>
        </p:nvSpPr>
        <p:spPr>
          <a:xfrm>
            <a:off x="2429247" y="383963"/>
            <a:ext cx="2782833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Functions of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4AE91172-0EB8-4E65-946C-FB00864AEDEB}"/>
              </a:ext>
            </a:extLst>
          </p:cNvPr>
          <p:cNvSpPr txBox="1">
            <a:spLocks/>
          </p:cNvSpPr>
          <p:nvPr/>
        </p:nvSpPr>
        <p:spPr>
          <a:xfrm>
            <a:off x="5125291" y="383490"/>
            <a:ext cx="2959529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LMS Desktop</a:t>
            </a:r>
          </a:p>
        </p:txBody>
      </p:sp>
    </p:spTree>
    <p:extLst>
      <p:ext uri="{BB962C8B-B14F-4D97-AF65-F5344CB8AC3E}">
        <p14:creationId xmlns:p14="http://schemas.microsoft.com/office/powerpoint/2010/main" val="3849336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582626" y="347963"/>
            <a:ext cx="4010199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>
                <a:effectLst/>
              </a:rPr>
              <a:t>What did we use?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D740177-E2ED-47F4-A372-155FF5715CBC}"/>
              </a:ext>
            </a:extLst>
          </p:cNvPr>
          <p:cNvSpPr txBox="1">
            <a:spLocks/>
          </p:cNvSpPr>
          <p:nvPr/>
        </p:nvSpPr>
        <p:spPr>
          <a:xfrm>
            <a:off x="907640" y="2258047"/>
            <a:ext cx="3441160" cy="3889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</a:rPr>
              <a:t>Windows Forms – C#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</a:rPr>
              <a:t>.NET 8.0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</a:rPr>
              <a:t>Nugget Packages:</a:t>
            </a:r>
          </a:p>
          <a:p>
            <a:pPr marL="808038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Oxanium"/>
              </a:rPr>
              <a:t>MySQL</a:t>
            </a:r>
          </a:p>
          <a:p>
            <a:pPr marL="808038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Oxanium"/>
              </a:rPr>
              <a:t>BCrypt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HTTP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Regular Expressions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OnceClick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>
                <a:effectLst/>
              </a:rPr>
              <a:t>Inno</a:t>
            </a:r>
            <a:r>
              <a:rPr lang="en-GB" dirty="0">
                <a:effectLst/>
              </a:rPr>
              <a:t> Setup Compiler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60F1B-38B8-4A46-B149-E0576B2F93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13" t="2545" r="5011" b="-1"/>
          <a:stretch/>
        </p:blipFill>
        <p:spPr>
          <a:xfrm>
            <a:off x="5116800" y="641927"/>
            <a:ext cx="1958400" cy="20146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5AE6DB-0D00-4DD3-A0B7-EA31A4096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98" y="105637"/>
            <a:ext cx="2089680" cy="6490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79B9EE-A2A7-4CFA-A2C7-14E2F16C3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551" y="3061402"/>
            <a:ext cx="2314898" cy="30865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0752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561801" y="347963"/>
            <a:ext cx="8044397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/>
              <a:t>MySQL connection in C#</a:t>
            </a:r>
            <a:endParaRPr lang="en-GB" sz="4000" dirty="0">
              <a:effectLst/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939799FA-B349-42FD-A183-A4BF99C233B7}"/>
              </a:ext>
            </a:extLst>
          </p:cNvPr>
          <p:cNvSpPr txBox="1">
            <a:spLocks/>
          </p:cNvSpPr>
          <p:nvPr/>
        </p:nvSpPr>
        <p:spPr>
          <a:xfrm>
            <a:off x="2434925" y="1368000"/>
            <a:ext cx="2712002" cy="929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ctr"/>
            <a:r>
              <a:rPr lang="en-GB" sz="2400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Reusable Select function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3097D8A6-4385-43FA-A825-6DCE96FDEA42}"/>
              </a:ext>
            </a:extLst>
          </p:cNvPr>
          <p:cNvSpPr txBox="1">
            <a:spLocks/>
          </p:cNvSpPr>
          <p:nvPr/>
        </p:nvSpPr>
        <p:spPr>
          <a:xfrm>
            <a:off x="8058219" y="2376706"/>
            <a:ext cx="2497960" cy="92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ctr"/>
            <a:r>
              <a:rPr lang="en-GB" sz="2400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Straightforward function names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381002D-909C-4F1F-BA59-811E8474F5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89" b="-1"/>
          <a:stretch/>
        </p:blipFill>
        <p:spPr>
          <a:xfrm>
            <a:off x="833000" y="2376706"/>
            <a:ext cx="5915851" cy="34481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8A0708A-8A34-4617-8394-992986927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302" y="3304800"/>
            <a:ext cx="3905795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201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83B76-EEC6-49EB-82AB-A62075662CBE}"/>
              </a:ext>
            </a:extLst>
          </p:cNvPr>
          <p:cNvSpPr txBox="1">
            <a:spLocks/>
          </p:cNvSpPr>
          <p:nvPr/>
        </p:nvSpPr>
        <p:spPr>
          <a:xfrm>
            <a:off x="613528" y="347963"/>
            <a:ext cx="8044397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 dirty="0"/>
              <a:t>NUnit testing</a:t>
            </a:r>
            <a:endParaRPr lang="en-GB" sz="4000" dirty="0">
              <a:effectLst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C854195-7EBC-44A5-9E40-CBFBDFAF9CD3}"/>
              </a:ext>
            </a:extLst>
          </p:cNvPr>
          <p:cNvSpPr txBox="1">
            <a:spLocks/>
          </p:cNvSpPr>
          <p:nvPr/>
        </p:nvSpPr>
        <p:spPr>
          <a:xfrm>
            <a:off x="1923725" y="1296000"/>
            <a:ext cx="2712002" cy="929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ctr"/>
            <a:r>
              <a:rPr lang="en-GB" sz="2400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Testing Login page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A92CE1E-C904-4381-9A5B-5D1D56FC0362}"/>
              </a:ext>
            </a:extLst>
          </p:cNvPr>
          <p:cNvSpPr txBox="1">
            <a:spLocks/>
          </p:cNvSpPr>
          <p:nvPr/>
        </p:nvSpPr>
        <p:spPr>
          <a:xfrm>
            <a:off x="6913907" y="1965033"/>
            <a:ext cx="3778581" cy="929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 indent="-9525" eaLnBrk="1" hangingPunct="1">
              <a:buClr>
                <a:schemeClr val="dk1"/>
              </a:buClr>
              <a:buSzPts val="1200"/>
              <a:buFont typeface="Hind"/>
              <a:buNone/>
              <a:defRPr sz="2100">
                <a:solidFill>
                  <a:schemeClr val="dk1"/>
                </a:solidFill>
                <a:latin typeface="Oxanium"/>
                <a:ea typeface="Hind"/>
                <a:cs typeface="Hind"/>
                <a:sym typeface="Hind"/>
              </a:defRPr>
            </a:lvl1pPr>
            <a:lvl2pPr marL="914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indent="-304800" algn="ctr" eaLnBrk="1" hangingPunct="1">
              <a:buClr>
                <a:schemeClr val="dk1"/>
              </a:buClr>
              <a:buSzPts val="1800"/>
              <a:buFont typeface="Hind"/>
              <a:buNone/>
              <a:defRPr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ctr"/>
            <a:r>
              <a:rPr lang="en-GB" sz="2400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Testing publication year with regular expressions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A9615A-E33C-4692-A5D3-52250422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01" y="1965033"/>
            <a:ext cx="4829849" cy="43535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C81184-6AAC-424A-8861-790099E3E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53" y="3078035"/>
            <a:ext cx="4772691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427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0">
            <a:extLst>
              <a:ext uri="{FF2B5EF4-FFF2-40B4-BE49-F238E27FC236}">
                <a16:creationId xmlns:a16="http://schemas.microsoft.com/office/drawing/2014/main" id="{6A045ED4-1B09-4F9E-BA9C-17BB876E42B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75583" y="3429000"/>
            <a:ext cx="4292765" cy="1360246"/>
          </a:xfrm>
        </p:spPr>
        <p:txBody>
          <a:bodyPr anchor="t"/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GB" sz="2000" dirty="0"/>
              <a:t>Separate mobile application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GB" sz="2000" dirty="0"/>
              <a:t>Overdue fees -&gt; Online payment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GB" sz="2000" dirty="0"/>
              <a:t>Changeable languages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GB" sz="2000" dirty="0"/>
              <a:t>Customizable themes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E1CA2AC-49C0-457B-B937-9CB709CE933E}"/>
              </a:ext>
            </a:extLst>
          </p:cNvPr>
          <p:cNvSpPr txBox="1">
            <a:spLocks/>
          </p:cNvSpPr>
          <p:nvPr/>
        </p:nvSpPr>
        <p:spPr>
          <a:xfrm>
            <a:off x="343304" y="2298769"/>
            <a:ext cx="4825044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Oxanium"/>
              <a:buNone/>
              <a:defRPr sz="6667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Oxanium"/>
              <a:buNone/>
              <a:defRPr sz="6667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Oxanium"/>
              <a:buNone/>
              <a:defRPr sz="6667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Oxanium"/>
              <a:buNone/>
              <a:defRPr sz="6667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Oxanium"/>
              <a:buNone/>
              <a:defRPr sz="6667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Oxanium"/>
              <a:buNone/>
              <a:defRPr sz="6667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Oxanium"/>
              <a:buNone/>
              <a:defRPr sz="6667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Oxanium"/>
              <a:buNone/>
              <a:defRPr sz="6667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Oxanium"/>
              <a:buNone/>
              <a:defRPr sz="6667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-GB" sz="4000"/>
              <a:t>Future improvements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755847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4389F5-4A55-478B-A1F5-6422DC11E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267" y="763199"/>
            <a:ext cx="2012133" cy="698717"/>
          </a:xfrm>
        </p:spPr>
        <p:txBody>
          <a:bodyPr/>
          <a:lstStyle/>
          <a:p>
            <a:r>
              <a:rPr lang="en-GB" sz="4000" dirty="0"/>
              <a:t>Sources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6A045ED4-1B09-4F9E-BA9C-17BB876E4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2267" y="1516383"/>
            <a:ext cx="6028000" cy="873525"/>
          </a:xfrm>
        </p:spPr>
        <p:txBody>
          <a:bodyPr anchor="t"/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GB" sz="2000" dirty="0">
                <a:hlinkClick r:id="rId2"/>
              </a:rPr>
              <a:t>Presentation template</a:t>
            </a:r>
            <a:endParaRPr lang="en-GB" sz="20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GB" sz="2000" dirty="0"/>
              <a:t>All source for the pictures are linked to them</a:t>
            </a:r>
          </a:p>
        </p:txBody>
      </p:sp>
    </p:spTree>
    <p:extLst>
      <p:ext uri="{BB962C8B-B14F-4D97-AF65-F5344CB8AC3E}">
        <p14:creationId xmlns:p14="http://schemas.microsoft.com/office/powerpoint/2010/main" val="2127357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CFEA2-8BD3-4162-A14E-5A370755E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4654" y="3097096"/>
            <a:ext cx="10282691" cy="1021624"/>
          </a:xfrm>
        </p:spPr>
        <p:txBody>
          <a:bodyPr/>
          <a:lstStyle/>
          <a:p>
            <a:r>
              <a:rPr lang="en-GB" dirty="0"/>
              <a:t>Library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1118D-090B-4B78-A783-AB1F86640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402983"/>
            <a:ext cx="8010939" cy="455017"/>
          </a:xfrm>
        </p:spPr>
        <p:txBody>
          <a:bodyPr/>
          <a:lstStyle/>
          <a:p>
            <a:pPr marL="9525" indent="-9525"/>
            <a:r>
              <a:rPr lang="en-GB" sz="2100" dirty="0">
                <a:latin typeface="Oxanium"/>
              </a:rPr>
              <a:t>Made by:  Zoltán András Tóth, Máté Vágvölgyi, Soma István Zsömbörgi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0AED58-821E-40F9-96DD-6D5878250FD5}"/>
              </a:ext>
            </a:extLst>
          </p:cNvPr>
          <p:cNvSpPr txBox="1">
            <a:spLocks/>
          </p:cNvSpPr>
          <p:nvPr/>
        </p:nvSpPr>
        <p:spPr>
          <a:xfrm>
            <a:off x="886654" y="2134206"/>
            <a:ext cx="10282691" cy="102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667" b="1" i="0" u="none" strike="noStrike" cap="none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xanium"/>
              <a:buNone/>
              <a:defRPr sz="6933" b="1" i="0" u="none" strike="noStrike" cap="none">
                <a:solidFill>
                  <a:srgbClr val="191919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pPr algn="ctr"/>
            <a:r>
              <a:rPr lang="en-GB" dirty="0"/>
              <a:t>LMS</a:t>
            </a:r>
          </a:p>
        </p:txBody>
      </p:sp>
    </p:spTree>
    <p:extLst>
      <p:ext uri="{BB962C8B-B14F-4D97-AF65-F5344CB8AC3E}">
        <p14:creationId xmlns:p14="http://schemas.microsoft.com/office/powerpoint/2010/main" val="2841535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5G Wireless Technology MK Plan by Slidesgo">
  <a:themeElements>
    <a:clrScheme name="Simple Light">
      <a:dk1>
        <a:srgbClr val="FFFFFF"/>
      </a:dk1>
      <a:lt1>
        <a:srgbClr val="EE98FF"/>
      </a:lt1>
      <a:dk2>
        <a:srgbClr val="CB7DFF"/>
      </a:dk2>
      <a:lt2>
        <a:srgbClr val="996EF7"/>
      </a:lt2>
      <a:accent1>
        <a:srgbClr val="54167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Purple_GOOD</Template>
  <TotalTime>516</TotalTime>
  <Words>788</Words>
  <Application>Microsoft Office PowerPoint</Application>
  <PresentationFormat>Szélesvásznú</PresentationFormat>
  <Paragraphs>242</Paragraphs>
  <Slides>40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2</vt:i4>
      </vt:variant>
      <vt:variant>
        <vt:lpstr>Diacímek</vt:lpstr>
      </vt:variant>
      <vt:variant>
        <vt:i4>40</vt:i4>
      </vt:variant>
    </vt:vector>
  </HeadingPairs>
  <TitlesOfParts>
    <vt:vector size="49" baseType="lpstr">
      <vt:lpstr>Arial</vt:lpstr>
      <vt:lpstr>Hind</vt:lpstr>
      <vt:lpstr>Nunito Light</vt:lpstr>
      <vt:lpstr>Oxanium</vt:lpstr>
      <vt:lpstr>Proxima Nova</vt:lpstr>
      <vt:lpstr>Proxima Nova Semibold</vt:lpstr>
      <vt:lpstr>Raleway</vt:lpstr>
      <vt:lpstr>5G Wireless Technology MK Plan by Slidesgo</vt:lpstr>
      <vt:lpstr>Slidesgo Final Pages</vt:lpstr>
      <vt:lpstr>Library Management System</vt:lpstr>
      <vt:lpstr>The problem</vt:lpstr>
      <vt:lpstr>The problem</vt:lpstr>
      <vt:lpstr>The problem</vt:lpstr>
      <vt:lpstr>The problem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Sources</vt:lpstr>
      <vt:lpstr>Library Management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Kézigránát</dc:creator>
  <cp:lastModifiedBy>win10-vritual</cp:lastModifiedBy>
  <cp:revision>577</cp:revision>
  <dcterms:created xsi:type="dcterms:W3CDTF">2025-03-31T08:40:45Z</dcterms:created>
  <dcterms:modified xsi:type="dcterms:W3CDTF">2025-05-15T07:52:16Z</dcterms:modified>
</cp:coreProperties>
</file>